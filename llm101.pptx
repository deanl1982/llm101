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.fntdata"/><Relationship Id="rId11" Type="http://schemas.openxmlformats.org/officeDocument/2006/relationships/slide" Target="slides/slide6.xml"/><Relationship Id="rId22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8be81d93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8be81d93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8be81d93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8be81d93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be81d93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be81d93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8be81d93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8be81d93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8be81d937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8be81d937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8be81d937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8be81d93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be81d93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8be81d93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be81d937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8be81d937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e81d937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e81d937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8be81d937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8be81d937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8be81d93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8be81d93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be81d93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be81d93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tl;dr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the brief history of ai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└── the significance of the transformer architecture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89250" y="85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0.2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1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64" name="Google Shape;64;p1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history of ai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artificial intelligence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machine learning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deep learning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9144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├── recurrent neural networks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foundational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large language models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vision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speech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└── multimodal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agentic ai [built on top]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5" name="Google Shape;65;p1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1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7" name="Google Shape;67;p1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 ] remember: what follows is not text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memorisation, </a:t>
            </a:r>
            <a:r>
              <a:rPr b="1"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it's pattern recognition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!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[cheat-code] remember: what follows is not text memorisation, </a:t>
            </a:r>
            <a:r>
              <a:rPr b="1"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it's pattern recognition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!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16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tokenization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splits text into smaller pieces ["Hello world!" → "Hello" " world" "!"]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└──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embedding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converts each token into a list of numbers that capture its meaning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└── neural networks process tokens through thousands of layers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└── each layer adjusts billions of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as it learns new patterns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weights are the "knobs" that predict the next token correctly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└── scale up and repeat this process across trillions of words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16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4" name="Google Shape;84;p16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85" name="Google Shape;8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600"/>
              <a:t>Source: </a:t>
            </a:r>
            <a:r>
              <a:rPr i="1" lang="en-GB" sz="600"/>
              <a:t>https://www.scalablepath.com/machine-learning/chatgpt-architecture-explained</a:t>
            </a:r>
            <a:endParaRPr i="1" sz="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7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92" name="Google Shape;92;p17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significance of the transformer architecture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google's 2017 deep learning breakthrough that enabled modern ai was the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transformer architecture</a:t>
              </a:r>
              <a:endParaRPr b="1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old models read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sequentially [word by word]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meaning they were slow and forgot context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transformers use "attention" to look at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all words simultaneously</a:t>
              </a:r>
              <a:endParaRPr b="1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parallel processing unlocked scale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could finally train on massive datasets [the entire internet]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└── every modern LLM uses this architecture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3" name="Google Shape;93;p17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17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01" name="Google Shape;101;p18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[user-prompt] complete this sentence, the cat sat on the…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2" name="Google Shape;102;p18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03" name="Google Shape;103;p18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4" name="Google Shape;104;p18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9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10" name="Google Shape;110;p19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tokenization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text: ["the", " cat", " sat", " on", " the", " mat"]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id: [1820, 8415, 7731, 389, 279, 5634]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1" name="Google Shape;111;p19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3" name="Google Shape;113;p19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5125" y="327826"/>
            <a:ext cx="3877402" cy="2355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/>
          <p:nvPr/>
        </p:nvSpPr>
        <p:spPr>
          <a:xfrm>
            <a:off x="4915075" y="2683050"/>
            <a:ext cx="3877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/>
              <a:t>https://tiktokenizer.vercel.app</a:t>
            </a:r>
            <a:endParaRPr i="1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0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21" name="Google Shape;121;p20"/>
            <p:cNvSpPr/>
            <p:nvPr/>
          </p:nvSpPr>
          <p:spPr>
            <a:xfrm>
              <a:off x="362925" y="3810650"/>
              <a:ext cx="1696200" cy="11991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2" name="Google Shape;122;p20"/>
            <p:cNvGrpSpPr/>
            <p:nvPr/>
          </p:nvGrpSpPr>
          <p:grpSpPr>
            <a:xfrm>
              <a:off x="313775" y="407600"/>
              <a:ext cx="8478750" cy="4660725"/>
              <a:chOff x="313775" y="407600"/>
              <a:chExt cx="8478750" cy="4660725"/>
            </a:xfrm>
          </p:grpSpPr>
          <p:sp>
            <p:nvSpPr>
              <p:cNvPr id="123" name="Google Shape;123;p20"/>
              <p:cNvSpPr txBox="1"/>
              <p:nvPr/>
            </p:nvSpPr>
            <p:spPr>
              <a:xfrm>
                <a:off x="389250" y="2600850"/>
                <a:ext cx="8365500" cy="22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 how models are trained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## embedding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before being processed by the transformer, all tokens are assigned an initial </a:t>
                </a: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randomised</a:t>
                </a: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 </a:t>
                </a:r>
                <a:r>
                  <a:rPr b="1"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weight</a:t>
                </a: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: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token		weight₁	weight₂	weight₃	weight₄ 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0.</a:t>
                </a: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847</a:t>
                </a: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		-0.312	1.456		-0.723 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"cat"		0.823 	0.591		-1.023	0.445 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"sat"		-0.567	1.234		0.892		-0.156 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"on"		0.723		-0.891	0.334		1.567 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1.445		0.223		-0.778	0.901</a:t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4" name="Google Shape;124;p20"/>
              <p:cNvSpPr txBox="1"/>
              <p:nvPr/>
            </p:nvSpPr>
            <p:spPr>
              <a:xfrm>
                <a:off x="2633225" y="407600"/>
                <a:ext cx="3726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2"/>
                  </a:solidFill>
                </a:endParaRPr>
              </a:p>
            </p:txBody>
          </p:sp>
          <p:sp>
            <p:nvSpPr>
              <p:cNvPr id="125" name="Google Shape;125;p20"/>
              <p:cNvSpPr txBox="1"/>
              <p:nvPr/>
            </p:nvSpPr>
            <p:spPr>
              <a:xfrm>
                <a:off x="313775" y="4690625"/>
                <a:ext cx="8365500" cy="37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i="1" lang="en-GB" sz="900">
                    <a:solidFill>
                      <a:schemeClr val="dk1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dean.lawrence@avanade.com</a:t>
                </a:r>
                <a:endParaRPr i="1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i="1" lang="en-GB" sz="900">
                    <a:solidFill>
                      <a:schemeClr val="dk1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github.com/deanl1982/llm101</a:t>
                </a:r>
                <a:endParaRPr i="1" sz="900"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6" name="Google Shape;126;p20"/>
              <p:cNvSpPr txBox="1"/>
              <p:nvPr/>
            </p:nvSpPr>
            <p:spPr>
              <a:xfrm>
                <a:off x="427025" y="2138650"/>
                <a:ext cx="8365500" cy="37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1" lang="en-GB" sz="1200">
                    <a:latin typeface="Roboto Mono"/>
                    <a:ea typeface="Roboto Mono"/>
                    <a:cs typeface="Roboto Mono"/>
                    <a:sym typeface="Roboto Mono"/>
                  </a:rPr>
                  <a:t>ai-101</a:t>
                </a:r>
                <a:endParaRPr b="1" i="1" sz="12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21"/>
          <p:cNvGrpSpPr/>
          <p:nvPr/>
        </p:nvGrpSpPr>
        <p:grpSpPr>
          <a:xfrm>
            <a:off x="313775" y="407600"/>
            <a:ext cx="8478750" cy="4697050"/>
            <a:chOff x="313775" y="407600"/>
            <a:chExt cx="8478750" cy="4697050"/>
          </a:xfrm>
        </p:grpSpPr>
        <p:sp>
          <p:nvSpPr>
            <p:cNvPr id="132" name="Google Shape;132;p21"/>
            <p:cNvSpPr txBox="1"/>
            <p:nvPr/>
          </p:nvSpPr>
          <p:spPr>
            <a:xfrm>
              <a:off x="389250" y="2600850"/>
              <a:ext cx="8365500" cy="250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data is then fed into the transformer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“the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dog sat on the couch"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bird sat on the branch"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"my cat loves sitting on warm surfaces"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"cats often sit on mats, rugs, and furniture"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kitten sat on the cushion"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"animals sit on comfortable places"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"she placed the mat down and the cat sat on it"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3" name="Google Shape;133;p21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/>
          <p:cNvGrpSpPr/>
          <p:nvPr/>
        </p:nvGrpSpPr>
        <p:grpSpPr>
          <a:xfrm>
            <a:off x="313775" y="407600"/>
            <a:ext cx="8478750" cy="4703650"/>
            <a:chOff x="313775" y="407600"/>
            <a:chExt cx="8478750" cy="4703650"/>
          </a:xfrm>
        </p:grpSpPr>
        <p:sp>
          <p:nvSpPr>
            <p:cNvPr id="141" name="Google Shape;141;p22"/>
            <p:cNvSpPr txBox="1"/>
            <p:nvPr/>
          </p:nvSpPr>
          <p:spPr>
            <a:xfrm>
              <a:off x="389250" y="2600850"/>
              <a:ext cx="8365500" cy="251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run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change as token make their way through the transformer layers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nd new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patterns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in the data are found, similar words are clustered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closer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together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→ [0.823 &gt; 0.654 &gt; -0.234 &gt; 0.445 &gt;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0.912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"mat" → [1.798 &gt; 1.642 &gt; 1.210  &gt; 0.938 &gt; </a:t>
              </a:r>
              <a:r>
                <a:rPr b="1"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0.895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 ← closer to "cat"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2" name="Google Shape;142;p22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43" name="Google Shape;143;p22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4" name="Google Shape;144;p22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45" name="Google Shape;14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600"/>
              <a:t>Source: https://www.scalablepath.com/machine-learning/chatgpt-architecture-explained</a:t>
            </a:r>
            <a:endParaRPr i="1" sz="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3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52" name="Google Shape;152;p23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semantic similarity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b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efore training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: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                        "mat"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 ←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─────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0.975 ─────→ 🧘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after training: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          "mat"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🐱←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─ 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0.017 ─→🧘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3" name="Google Shape;153;p23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54" name="Google Shape;154;p23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5" name="Google Shape;155;p23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61" name="Google Shape;161;p2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sources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https://www.youtube.com/watch?v=7xTGNNLPyMI&amp;t=999s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https://tiktokenizer.vercel.app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https://bbycroft.net/llm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https://arxiv.org/abs/1706.03762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2" name="Google Shape;162;p2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63" name="Google Shape;163;p2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4" name="Google Shape;164;p2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69;p25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70" name="Google Shape;170;p25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demo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1" name="Google Shape;171;p25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72" name="Google Shape;172;p25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  <a:endParaRPr i="1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GB" sz="90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  <a:endParaRPr i="1" sz="90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3" name="Google Shape;173;p25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GB" sz="120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b="1" i="1" sz="12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