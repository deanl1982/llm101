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6"/>
  </p:notesMasterIdLst>
  <p:sldIdLst>
    <p:sldId id="256" r:id="rId2"/>
    <p:sldId id="257" r:id="rId3"/>
    <p:sldId id="258" r:id="rId4"/>
    <p:sldId id="260" r:id="rId5"/>
    <p:sldId id="259" r:id="rId6"/>
    <p:sldId id="261" r:id="rId7"/>
    <p:sldId id="262" r:id="rId8"/>
    <p:sldId id="263" r:id="rId9"/>
    <p:sldId id="264" r:id="rId10"/>
    <p:sldId id="265" r:id="rId11"/>
    <p:sldId id="269" r:id="rId12"/>
    <p:sldId id="266" r:id="rId13"/>
    <p:sldId id="267" r:id="rId14"/>
    <p:sldId id="268" r:id="rId15"/>
  </p:sldIdLst>
  <p:sldSz cx="9144000" cy="5143500" type="screen16x9"/>
  <p:notesSz cx="6858000" cy="9144000"/>
  <p:embeddedFontLst>
    <p:embeddedFont>
      <p:font typeface="Roboto Mono" panose="00000009000000000000" pitchFamily="49" charset="0"/>
      <p:regular r:id="rId17"/>
      <p:bold r:id="rId18"/>
      <p:italic r:id="rId19"/>
      <p:boldItalic r:id="rId2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75" d="100"/>
          <a:sy n="75" d="100"/>
        </p:scale>
        <p:origin x="1666" y="797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2.fntdata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1.fntdata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font" Target="fonts/font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b8be81d937_0_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" name="Google Shape;61;g3b8be81d937_0_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3b8be81d937_0_9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3b8be81d937_0_9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g3b8be81d937_0_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" name="Google Shape;89;g3b8be81d937_0_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g3b8be81d937_0_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" name="Google Shape;78;g3b8be81d937_0_4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b8be81d937_0_10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b8be81d937_0_10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3b8be81d937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3b8be81d937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3b8be81d937_0_9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8" name="Google Shape;118;g3b8be81d937_0_9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g3b8be81d937_0_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9" name="Google Shape;129;g3b8be81d937_0_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b8be81d937_0_1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b8be81d937_0_1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>
          <a:extLst>
            <a:ext uri="{FF2B5EF4-FFF2-40B4-BE49-F238E27FC236}">
              <a16:creationId xmlns:a16="http://schemas.microsoft.com/office/drawing/2014/main" id="{C056415F-372A-6B79-0AA6-99FDE7991E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b8be81d937_0_114:notes">
            <a:extLst>
              <a:ext uri="{FF2B5EF4-FFF2-40B4-BE49-F238E27FC236}">
                <a16:creationId xmlns:a16="http://schemas.microsoft.com/office/drawing/2014/main" id="{874F7C4C-6BB7-2485-1CBE-CA68C442C55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b8be81d937_0_114:notes">
            <a:extLst>
              <a:ext uri="{FF2B5EF4-FFF2-40B4-BE49-F238E27FC236}">
                <a16:creationId xmlns:a16="http://schemas.microsoft.com/office/drawing/2014/main" id="{FC568A26-B945-B9F8-D4B0-B209BF0EE8A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1484311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3b8be81d937_0_1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" name="Google Shape;149;g3b8be81d937_0_1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3b8be81d937_0_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8" name="Google Shape;158;g3b8be81d937_0_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g3b8be81d937_0_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7" name="Google Shape;167;g3b8be81d937_0_7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linkedin.com/pulse/how-modern-ai-models-learn-from-raw-text-helpful-dean-lawrence-rljge/?trackingId=qJJbRE%2FlRZ2lGE2WMzgQIA%3D%3D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6" Type="http://schemas.openxmlformats.org/officeDocument/2006/relationships/hyperlink" Target="https://www.linkedin.com/pulse/understanding-attention-mechanism-ai-dean-lawrence-bjcpe/?trackingId=qJJbRE%2FlRZ2lGE2WMzgQIA%3D%3D" TargetMode="External"/><Relationship Id="rId5" Type="http://schemas.openxmlformats.org/officeDocument/2006/relationships/hyperlink" Target="https://www.linkedin.com/pulse/how-llms-decide-what-say-next-demystifying-top-k-top-p-dean-lawrence-ndrve/?trackingId=qJJbRE%2FlRZ2lGE2WMzgQIA%3D%3D" TargetMode="External"/><Relationship Id="rId4" Type="http://schemas.openxmlformats.org/officeDocument/2006/relationships/hyperlink" Target="https://www.linkedin.com/pulse/loss-isnt-failure-its-how-your-ai-learns-dean-lawrence-lhqle/?trackingId=qJJbRE%2FlRZ2lGE2WMzgQIA%3D%3D" TargetMode="Externa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389250" y="2600850"/>
            <a:ext cx="8365500" cy="22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sz="1100" dirty="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rPr>
              <a:t># </a:t>
            </a:r>
            <a:r>
              <a:rPr lang="en-GB" sz="1100" dirty="0" err="1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rPr>
              <a:t>tl;dr</a:t>
            </a:r>
            <a:endParaRPr sz="1100" dirty="0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 dirty="0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 dirty="0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dirty="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rPr>
              <a:t>the brief history of ai</a:t>
            </a:r>
            <a:endParaRPr sz="1100" dirty="0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dirty="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rPr>
              <a:t>  └── the significance of the transformer architecture</a:t>
            </a:r>
            <a:endParaRPr sz="1100" dirty="0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dirty="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rPr>
              <a:t>         └── how models are trained</a:t>
            </a:r>
            <a:endParaRPr sz="1100" dirty="0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 dirty="0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 dirty="0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 dirty="0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  <p:sp>
        <p:nvSpPr>
          <p:cNvPr id="55" name="Google Shape;55;p13"/>
          <p:cNvSpPr txBox="1"/>
          <p:nvPr/>
        </p:nvSpPr>
        <p:spPr>
          <a:xfrm>
            <a:off x="2633225" y="407600"/>
            <a:ext cx="37266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2"/>
              </a:solidFill>
            </a:endParaRPr>
          </a:p>
        </p:txBody>
      </p:sp>
      <p:sp>
        <p:nvSpPr>
          <p:cNvPr id="56" name="Google Shape;56;p13"/>
          <p:cNvSpPr txBox="1"/>
          <p:nvPr/>
        </p:nvSpPr>
        <p:spPr>
          <a:xfrm>
            <a:off x="313775" y="4690625"/>
            <a:ext cx="8365500" cy="37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700" dirty="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dean.lawrence@avanade.com</a:t>
            </a:r>
            <a:endParaRPr sz="700" dirty="0">
              <a:solidFill>
                <a:schemeClr val="dk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700" dirty="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github.com/deanl1982/llm101</a:t>
            </a:r>
            <a:endParaRPr sz="700" dirty="0">
              <a:solidFill>
                <a:schemeClr val="dk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700" dirty="0">
              <a:latin typeface="Roboto Mono"/>
              <a:ea typeface="Roboto Mono"/>
              <a:cs typeface="Roboto Mono"/>
              <a:sym typeface="Roboto Mono"/>
            </a:endParaRPr>
          </a:p>
        </p:txBody>
      </p:sp>
      <p:sp>
        <p:nvSpPr>
          <p:cNvPr id="57" name="Google Shape;57;p13"/>
          <p:cNvSpPr txBox="1"/>
          <p:nvPr/>
        </p:nvSpPr>
        <p:spPr>
          <a:xfrm>
            <a:off x="427025" y="2138650"/>
            <a:ext cx="8365500" cy="37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b="1" i="1">
                <a:latin typeface="Roboto Mono"/>
                <a:ea typeface="Roboto Mono"/>
                <a:cs typeface="Roboto Mono"/>
                <a:sym typeface="Roboto Mono"/>
              </a:rPr>
              <a:t>ai-101</a:t>
            </a:r>
            <a:endParaRPr sz="1200" b="1" i="1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  <p:sp>
        <p:nvSpPr>
          <p:cNvPr id="58" name="Google Shape;58;p13"/>
          <p:cNvSpPr txBox="1"/>
          <p:nvPr/>
        </p:nvSpPr>
        <p:spPr>
          <a:xfrm>
            <a:off x="389250" y="85625"/>
            <a:ext cx="8365500" cy="37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v0.3</a:t>
            </a:r>
            <a:endParaRPr sz="900" dirty="0">
              <a:latin typeface="Roboto Mono"/>
              <a:ea typeface="Roboto Mono"/>
              <a:cs typeface="Roboto Mono"/>
              <a:sym typeface="Roboto Mono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Google Shape;63;p14"/>
          <p:cNvGrpSpPr/>
          <p:nvPr/>
        </p:nvGrpSpPr>
        <p:grpSpPr>
          <a:xfrm>
            <a:off x="313775" y="407600"/>
            <a:ext cx="8478750" cy="4660725"/>
            <a:chOff x="313775" y="407600"/>
            <a:chExt cx="8478750" cy="4660725"/>
          </a:xfrm>
        </p:grpSpPr>
        <p:sp>
          <p:nvSpPr>
            <p:cNvPr id="64" name="Google Shape;64;p14"/>
            <p:cNvSpPr txBox="1"/>
            <p:nvPr/>
          </p:nvSpPr>
          <p:spPr>
            <a:xfrm>
              <a:off x="389250" y="2600850"/>
              <a:ext cx="8365500" cy="2219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# the history of ai</a:t>
              </a: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GB" sz="1100" dirty="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artificial intelligence</a:t>
              </a: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  └── machine learning</a:t>
              </a: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         └── deep learning</a:t>
              </a: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                └── neural networks</a:t>
              </a: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                       ├── recurrent neural networks</a:t>
              </a: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                       └── transformers</a:t>
              </a: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                              └── foundation models</a:t>
              </a: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                                      ├── large language models</a:t>
              </a: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                                      ├── vision models</a:t>
              </a: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                                      ├── speech models</a:t>
              </a: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                                      └── multimodal models</a:t>
              </a: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                                             └── agentic ai</a:t>
              </a:r>
            </a:p>
          </p:txBody>
        </p:sp>
        <p:sp>
          <p:nvSpPr>
            <p:cNvPr id="65" name="Google Shape;65;p14"/>
            <p:cNvSpPr txBox="1"/>
            <p:nvPr/>
          </p:nvSpPr>
          <p:spPr>
            <a:xfrm>
              <a:off x="2633225" y="407600"/>
              <a:ext cx="37266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2"/>
                </a:solidFill>
              </a:endParaRPr>
            </a:p>
          </p:txBody>
        </p:sp>
        <p:sp>
          <p:nvSpPr>
            <p:cNvPr id="66" name="Google Shape;66;p14"/>
            <p:cNvSpPr txBox="1"/>
            <p:nvPr/>
          </p:nvSpPr>
          <p:spPr>
            <a:xfrm>
              <a:off x="313775" y="4690625"/>
              <a:ext cx="8365500" cy="377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lvl="0" algn="r">
                <a:buClr>
                  <a:schemeClr val="dk1"/>
                </a:buClr>
                <a:buSzPts val="1100"/>
              </a:pPr>
              <a:r>
                <a:rPr lang="en-GB" sz="800" dirty="0">
                  <a:solidFill>
                    <a:schemeClr val="dk1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dean.lawrence@avanade.com</a:t>
              </a:r>
            </a:p>
            <a:p>
              <a:pPr lvl="0" algn="r">
                <a:buClr>
                  <a:schemeClr val="dk1"/>
                </a:buClr>
                <a:buSzPts val="1100"/>
              </a:pPr>
              <a:r>
                <a:rPr lang="en-GB" sz="800" dirty="0">
                  <a:solidFill>
                    <a:schemeClr val="dk1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github.com/deanl1982/llm101</a:t>
              </a:r>
            </a:p>
            <a:p>
              <a:pPr lvl="0" algn="ctr"/>
              <a:endParaRPr lang="en-GB" sz="800" dirty="0">
                <a:latin typeface="Roboto Mono"/>
                <a:ea typeface="Roboto Mono"/>
                <a:cs typeface="Roboto Mono"/>
                <a:sym typeface="Roboto Mono"/>
              </a:endParaRPr>
            </a:p>
          </p:txBody>
        </p:sp>
        <p:sp>
          <p:nvSpPr>
            <p:cNvPr id="67" name="Google Shape;67;p14"/>
            <p:cNvSpPr txBox="1"/>
            <p:nvPr/>
          </p:nvSpPr>
          <p:spPr>
            <a:xfrm>
              <a:off x="427025" y="2138650"/>
              <a:ext cx="8365500" cy="377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200" b="1" i="1">
                  <a:latin typeface="Roboto Mono"/>
                  <a:ea typeface="Roboto Mono"/>
                  <a:cs typeface="Roboto Mono"/>
                  <a:sym typeface="Roboto Mono"/>
                </a:rPr>
                <a:t>ai-101</a:t>
              </a:r>
              <a:endParaRPr sz="1200" b="1" i="1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5"/>
          <p:cNvSpPr txBox="1"/>
          <p:nvPr/>
        </p:nvSpPr>
        <p:spPr>
          <a:xfrm>
            <a:off x="389250" y="2600850"/>
            <a:ext cx="8365500" cy="22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dirty="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rPr>
              <a:t># how models are trained</a:t>
            </a:r>
            <a:endParaRPr sz="1100" dirty="0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 dirty="0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 dirty="0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dirty="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rPr>
              <a:t>## [cheat-code ] everything that follows is not text memorisation, </a:t>
            </a:r>
            <a:r>
              <a:rPr lang="en-GB" sz="1100" b="1" dirty="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rPr>
              <a:t>it's pattern recognition!</a:t>
            </a:r>
            <a:endParaRPr sz="1100" b="1" dirty="0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  <p:sp>
        <p:nvSpPr>
          <p:cNvPr id="73" name="Google Shape;73;p15"/>
          <p:cNvSpPr txBox="1"/>
          <p:nvPr/>
        </p:nvSpPr>
        <p:spPr>
          <a:xfrm>
            <a:off x="2633225" y="407600"/>
            <a:ext cx="37266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2"/>
              </a:solidFill>
            </a:endParaRPr>
          </a:p>
        </p:txBody>
      </p:sp>
      <p:sp>
        <p:nvSpPr>
          <p:cNvPr id="74" name="Google Shape;74;p15"/>
          <p:cNvSpPr txBox="1"/>
          <p:nvPr/>
        </p:nvSpPr>
        <p:spPr>
          <a:xfrm>
            <a:off x="313775" y="4690625"/>
            <a:ext cx="8365500" cy="37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 algn="r">
              <a:buClr>
                <a:schemeClr val="dk1"/>
              </a:buClr>
              <a:buSzPts val="1100"/>
            </a:pPr>
            <a:r>
              <a:rPr lang="en-GB" sz="800" dirty="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dean.lawrence@avanade.com</a:t>
            </a:r>
          </a:p>
          <a:p>
            <a:pPr lvl="0" algn="r">
              <a:buClr>
                <a:schemeClr val="dk1"/>
              </a:buClr>
              <a:buSzPts val="1100"/>
            </a:pPr>
            <a:r>
              <a:rPr lang="en-GB" sz="800" dirty="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github.com/deanl1982/llm101</a:t>
            </a:r>
          </a:p>
          <a:p>
            <a:pPr lvl="0" algn="ctr"/>
            <a:endParaRPr lang="en-GB" sz="800" dirty="0">
              <a:latin typeface="Roboto Mono"/>
              <a:ea typeface="Roboto Mono"/>
              <a:cs typeface="Roboto Mono"/>
              <a:sym typeface="Roboto Mono"/>
            </a:endParaRPr>
          </a:p>
        </p:txBody>
      </p:sp>
      <p:sp>
        <p:nvSpPr>
          <p:cNvPr id="75" name="Google Shape;75;p15"/>
          <p:cNvSpPr txBox="1"/>
          <p:nvPr/>
        </p:nvSpPr>
        <p:spPr>
          <a:xfrm>
            <a:off x="427025" y="2138650"/>
            <a:ext cx="8365500" cy="37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b="1" i="1">
                <a:latin typeface="Roboto Mono"/>
                <a:ea typeface="Roboto Mono"/>
                <a:cs typeface="Roboto Mono"/>
                <a:sym typeface="Roboto Mono"/>
              </a:rPr>
              <a:t>ai-101</a:t>
            </a:r>
            <a:endParaRPr sz="1200" b="1" i="1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1" name="Google Shape;91;p17"/>
          <p:cNvGrpSpPr/>
          <p:nvPr/>
        </p:nvGrpSpPr>
        <p:grpSpPr>
          <a:xfrm>
            <a:off x="313775" y="407600"/>
            <a:ext cx="8478750" cy="4660725"/>
            <a:chOff x="313775" y="407600"/>
            <a:chExt cx="8478750" cy="4660725"/>
          </a:xfrm>
        </p:grpSpPr>
        <p:sp>
          <p:nvSpPr>
            <p:cNvPr id="92" name="Google Shape;92;p17"/>
            <p:cNvSpPr txBox="1"/>
            <p:nvPr/>
          </p:nvSpPr>
          <p:spPr>
            <a:xfrm>
              <a:off x="389250" y="2600850"/>
              <a:ext cx="8365500" cy="2219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# the significance of the transformer architecture</a:t>
              </a:r>
              <a:endParaRPr sz="1100" dirty="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100" dirty="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100" dirty="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 dirty="0" err="1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google's</a:t>
              </a:r>
              <a:r>
                <a:rPr lang="en-GB" sz="11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 2017 deep learning breakthrough that enabled modern ai was the </a:t>
              </a:r>
              <a:r>
                <a:rPr lang="en-GB" sz="1100" b="1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transformer architecture</a:t>
              </a: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   └── old models read </a:t>
              </a:r>
              <a:r>
                <a:rPr lang="en-GB" sz="1100" b="1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sequentially [word by word] </a:t>
              </a:r>
              <a:r>
                <a:rPr lang="en-GB" sz="11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meaning they were slow and forgot context</a:t>
              </a: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         └── transformers use "attention" to look at </a:t>
              </a:r>
              <a:r>
                <a:rPr lang="en-GB" sz="1100" b="1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all words simultaneously</a:t>
              </a:r>
              <a:endParaRPr sz="1100" b="1" dirty="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               └── parallel processing unlocked scale</a:t>
              </a:r>
              <a:endParaRPr sz="1100" dirty="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                           └── could finally train on massive datasets [the entire internet]  </a:t>
              </a:r>
              <a:endParaRPr sz="1100" dirty="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                                 └── every modern LLM uses this architecture</a:t>
              </a:r>
              <a:endParaRPr sz="1100" dirty="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</p:txBody>
        </p:sp>
        <p:sp>
          <p:nvSpPr>
            <p:cNvPr id="93" name="Google Shape;93;p17"/>
            <p:cNvSpPr txBox="1"/>
            <p:nvPr/>
          </p:nvSpPr>
          <p:spPr>
            <a:xfrm>
              <a:off x="2633225" y="407600"/>
              <a:ext cx="37266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2"/>
                </a:solidFill>
              </a:endParaRPr>
            </a:p>
          </p:txBody>
        </p:sp>
        <p:sp>
          <p:nvSpPr>
            <p:cNvPr id="94" name="Google Shape;94;p17"/>
            <p:cNvSpPr txBox="1"/>
            <p:nvPr/>
          </p:nvSpPr>
          <p:spPr>
            <a:xfrm>
              <a:off x="313775" y="4690625"/>
              <a:ext cx="8365500" cy="377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lvl="0" algn="r">
                <a:buClr>
                  <a:schemeClr val="dk1"/>
                </a:buClr>
                <a:buSzPts val="1100"/>
              </a:pPr>
              <a:r>
                <a:rPr lang="en-GB" sz="800" dirty="0">
                  <a:solidFill>
                    <a:schemeClr val="dk1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dean.lawrence@avanade.com</a:t>
              </a:r>
            </a:p>
            <a:p>
              <a:pPr lvl="0" algn="r">
                <a:buClr>
                  <a:schemeClr val="dk1"/>
                </a:buClr>
                <a:buSzPts val="1100"/>
              </a:pPr>
              <a:r>
                <a:rPr lang="en-GB" sz="800" dirty="0">
                  <a:solidFill>
                    <a:schemeClr val="dk1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github.com/deanl1982/llm101</a:t>
              </a:r>
            </a:p>
            <a:p>
              <a:pPr lvl="0" algn="ctr"/>
              <a:endParaRPr lang="en-GB" sz="800" dirty="0">
                <a:latin typeface="Roboto Mono"/>
                <a:ea typeface="Roboto Mono"/>
                <a:cs typeface="Roboto Mono"/>
                <a:sym typeface="Roboto Mono"/>
              </a:endParaRPr>
            </a:p>
          </p:txBody>
        </p:sp>
        <p:sp>
          <p:nvSpPr>
            <p:cNvPr id="95" name="Google Shape;95;p17"/>
            <p:cNvSpPr txBox="1"/>
            <p:nvPr/>
          </p:nvSpPr>
          <p:spPr>
            <a:xfrm>
              <a:off x="427025" y="2138650"/>
              <a:ext cx="8365500" cy="377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200" b="1" i="1">
                  <a:latin typeface="Roboto Mono"/>
                  <a:ea typeface="Roboto Mono"/>
                  <a:cs typeface="Roboto Mono"/>
                  <a:sym typeface="Roboto Mono"/>
                </a:rPr>
                <a:t>ai-101</a:t>
              </a:r>
              <a:endParaRPr sz="1200" b="1" i="1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0" name="Google Shape;80;p16"/>
          <p:cNvGrpSpPr/>
          <p:nvPr/>
        </p:nvGrpSpPr>
        <p:grpSpPr>
          <a:xfrm>
            <a:off x="313775" y="407600"/>
            <a:ext cx="8478750" cy="4660725"/>
            <a:chOff x="313775" y="407600"/>
            <a:chExt cx="8478750" cy="4660725"/>
          </a:xfrm>
        </p:grpSpPr>
        <p:sp>
          <p:nvSpPr>
            <p:cNvPr id="81" name="Google Shape;81;p16"/>
            <p:cNvSpPr txBox="1"/>
            <p:nvPr/>
          </p:nvSpPr>
          <p:spPr>
            <a:xfrm>
              <a:off x="389250" y="2600850"/>
              <a:ext cx="8365500" cy="2219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# how models are trained</a:t>
              </a:r>
              <a:endParaRPr sz="1100" dirty="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100" dirty="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100" dirty="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 b="1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tokenization</a:t>
              </a:r>
              <a:r>
                <a:rPr lang="en-GB" sz="11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 splits text into smaller pieces ["Hello world!" → "Hello" " world" "!"]</a:t>
              </a:r>
              <a:endParaRPr sz="1100" dirty="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 └── </a:t>
              </a:r>
              <a:r>
                <a:rPr lang="en-GB" sz="1100" b="1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embedding</a:t>
              </a:r>
              <a:r>
                <a:rPr lang="en-GB" sz="11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 converts each token into a list of numbers that capture its meaning</a:t>
              </a:r>
              <a:endParaRPr sz="1100" dirty="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  └── neural networks process tokens through thousands of layers</a:t>
              </a:r>
              <a:endParaRPr sz="1100" dirty="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     └── each layer adjusts billions of </a:t>
              </a:r>
              <a:r>
                <a:rPr lang="en-GB" sz="1100" b="1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weights</a:t>
              </a:r>
              <a:r>
                <a:rPr lang="en-GB" sz="11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 as it learns new patterns</a:t>
              </a:r>
              <a:endParaRPr sz="1100" dirty="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         └── weights are the "knobs" that predict the next token correctly</a:t>
              </a:r>
              <a:endParaRPr sz="1100" dirty="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            └── scale up and repeat this process across trillions of words</a:t>
              </a:r>
              <a:endParaRPr sz="1100" dirty="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</p:txBody>
        </p:sp>
        <p:sp>
          <p:nvSpPr>
            <p:cNvPr id="82" name="Google Shape;82;p16"/>
            <p:cNvSpPr txBox="1"/>
            <p:nvPr/>
          </p:nvSpPr>
          <p:spPr>
            <a:xfrm>
              <a:off x="2633225" y="407600"/>
              <a:ext cx="37266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2"/>
                </a:solidFill>
              </a:endParaRPr>
            </a:p>
          </p:txBody>
        </p:sp>
        <p:sp>
          <p:nvSpPr>
            <p:cNvPr id="83" name="Google Shape;83;p16"/>
            <p:cNvSpPr txBox="1"/>
            <p:nvPr/>
          </p:nvSpPr>
          <p:spPr>
            <a:xfrm>
              <a:off x="313775" y="4690625"/>
              <a:ext cx="8365500" cy="377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lvl="0" algn="r">
                <a:buClr>
                  <a:schemeClr val="dk1"/>
                </a:buClr>
                <a:buSzPts val="1100"/>
              </a:pPr>
              <a:r>
                <a:rPr lang="en-GB" sz="800" dirty="0">
                  <a:solidFill>
                    <a:schemeClr val="dk1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dean.lawrence@avanade.com</a:t>
              </a:r>
            </a:p>
            <a:p>
              <a:pPr lvl="0" algn="r">
                <a:buClr>
                  <a:schemeClr val="dk1"/>
                </a:buClr>
                <a:buSzPts val="1100"/>
              </a:pPr>
              <a:r>
                <a:rPr lang="en-GB" sz="800" dirty="0">
                  <a:solidFill>
                    <a:schemeClr val="dk1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github.com/deanl1982/llm101</a:t>
              </a:r>
            </a:p>
            <a:p>
              <a:pPr lvl="0" algn="ctr"/>
              <a:endParaRPr lang="en-GB" sz="800" dirty="0">
                <a:latin typeface="Roboto Mono"/>
                <a:ea typeface="Roboto Mono"/>
                <a:cs typeface="Roboto Mono"/>
                <a:sym typeface="Roboto Mono"/>
              </a:endParaRPr>
            </a:p>
          </p:txBody>
        </p:sp>
        <p:sp>
          <p:nvSpPr>
            <p:cNvPr id="84" name="Google Shape;84;p16"/>
            <p:cNvSpPr txBox="1"/>
            <p:nvPr/>
          </p:nvSpPr>
          <p:spPr>
            <a:xfrm>
              <a:off x="427025" y="2138650"/>
              <a:ext cx="8365500" cy="377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200" b="1" i="1">
                  <a:latin typeface="Roboto Mono"/>
                  <a:ea typeface="Roboto Mono"/>
                  <a:cs typeface="Roboto Mono"/>
                  <a:sym typeface="Roboto Mono"/>
                </a:rPr>
                <a:t>ai-101</a:t>
              </a:r>
              <a:endParaRPr sz="1200" b="1" i="1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</p:txBody>
        </p:sp>
      </p:grpSp>
      <p:pic>
        <p:nvPicPr>
          <p:cNvPr id="85" name="Google Shape;85;p1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777575" y="407599"/>
            <a:ext cx="4066624" cy="2287476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6"/>
          <p:cNvSpPr txBox="1"/>
          <p:nvPr/>
        </p:nvSpPr>
        <p:spPr>
          <a:xfrm>
            <a:off x="4836300" y="2603550"/>
            <a:ext cx="3956100" cy="27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00" i="1"/>
              <a:t>Source: https://www.scalablepath.com/machine-learning/chatgpt-architecture-explained</a:t>
            </a:r>
            <a:endParaRPr sz="600" i="1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0" name="Google Shape;100;p18"/>
          <p:cNvGrpSpPr/>
          <p:nvPr/>
        </p:nvGrpSpPr>
        <p:grpSpPr>
          <a:xfrm>
            <a:off x="313775" y="407600"/>
            <a:ext cx="8478750" cy="4660725"/>
            <a:chOff x="313775" y="407600"/>
            <a:chExt cx="8478750" cy="4660725"/>
          </a:xfrm>
        </p:grpSpPr>
        <p:sp>
          <p:nvSpPr>
            <p:cNvPr id="101" name="Google Shape;101;p18"/>
            <p:cNvSpPr txBox="1"/>
            <p:nvPr/>
          </p:nvSpPr>
          <p:spPr>
            <a:xfrm>
              <a:off x="389250" y="2600850"/>
              <a:ext cx="8365500" cy="2219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# how models are trained</a:t>
              </a: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## [user-prompt] complete this sentence, the cat sat on the…</a:t>
              </a: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</p:txBody>
        </p:sp>
        <p:sp>
          <p:nvSpPr>
            <p:cNvPr id="102" name="Google Shape;102;p18"/>
            <p:cNvSpPr txBox="1"/>
            <p:nvPr/>
          </p:nvSpPr>
          <p:spPr>
            <a:xfrm>
              <a:off x="2633225" y="407600"/>
              <a:ext cx="37266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2"/>
                </a:solidFill>
              </a:endParaRPr>
            </a:p>
          </p:txBody>
        </p:sp>
        <p:sp>
          <p:nvSpPr>
            <p:cNvPr id="103" name="Google Shape;103;p18"/>
            <p:cNvSpPr txBox="1"/>
            <p:nvPr/>
          </p:nvSpPr>
          <p:spPr>
            <a:xfrm>
              <a:off x="313775" y="4690625"/>
              <a:ext cx="8365500" cy="377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lvl="0" algn="r">
                <a:buClr>
                  <a:schemeClr val="dk1"/>
                </a:buClr>
                <a:buSzPts val="1100"/>
              </a:pPr>
              <a:r>
                <a:rPr lang="en-GB" sz="800" dirty="0">
                  <a:solidFill>
                    <a:schemeClr val="dk1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dean.lawrence@avanade.com</a:t>
              </a:r>
            </a:p>
            <a:p>
              <a:pPr lvl="0" algn="r">
                <a:buClr>
                  <a:schemeClr val="dk1"/>
                </a:buClr>
                <a:buSzPts val="1100"/>
              </a:pPr>
              <a:r>
                <a:rPr lang="en-GB" sz="800" dirty="0">
                  <a:solidFill>
                    <a:schemeClr val="dk1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github.com/deanl1982/llm101</a:t>
              </a:r>
            </a:p>
            <a:p>
              <a:pPr lvl="0" algn="ctr"/>
              <a:endParaRPr lang="en-GB" sz="800" dirty="0">
                <a:latin typeface="Roboto Mono"/>
                <a:ea typeface="Roboto Mono"/>
                <a:cs typeface="Roboto Mono"/>
                <a:sym typeface="Roboto Mono"/>
              </a:endParaRPr>
            </a:p>
          </p:txBody>
        </p:sp>
        <p:sp>
          <p:nvSpPr>
            <p:cNvPr id="104" name="Google Shape;104;p18"/>
            <p:cNvSpPr txBox="1"/>
            <p:nvPr/>
          </p:nvSpPr>
          <p:spPr>
            <a:xfrm>
              <a:off x="427025" y="2138650"/>
              <a:ext cx="8365500" cy="377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200" b="1" i="1">
                  <a:latin typeface="Roboto Mono"/>
                  <a:ea typeface="Roboto Mono"/>
                  <a:cs typeface="Roboto Mono"/>
                  <a:sym typeface="Roboto Mono"/>
                </a:rPr>
                <a:t>ai-101</a:t>
              </a:r>
              <a:endParaRPr sz="1200" b="1" i="1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9" name="Google Shape;109;p19"/>
          <p:cNvGrpSpPr/>
          <p:nvPr/>
        </p:nvGrpSpPr>
        <p:grpSpPr>
          <a:xfrm>
            <a:off x="313775" y="407600"/>
            <a:ext cx="8478750" cy="4660725"/>
            <a:chOff x="313775" y="407600"/>
            <a:chExt cx="8478750" cy="4660725"/>
          </a:xfrm>
        </p:grpSpPr>
        <p:sp>
          <p:nvSpPr>
            <p:cNvPr id="110" name="Google Shape;110;p19"/>
            <p:cNvSpPr txBox="1"/>
            <p:nvPr/>
          </p:nvSpPr>
          <p:spPr>
            <a:xfrm>
              <a:off x="389250" y="2600850"/>
              <a:ext cx="8365500" cy="2219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# how models are trained</a:t>
              </a: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## tokenization</a:t>
              </a: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"the cat sat on the mat"</a:t>
              </a: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    ↓ </a:t>
              </a: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token text: ["the", " cat", " sat", " on", " the", " mat"]</a:t>
              </a: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    ↓</a:t>
              </a: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token id: [1820, 8415, 7731, 389, 279, 5634]</a:t>
              </a: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</p:txBody>
        </p:sp>
        <p:sp>
          <p:nvSpPr>
            <p:cNvPr id="111" name="Google Shape;111;p19"/>
            <p:cNvSpPr txBox="1"/>
            <p:nvPr/>
          </p:nvSpPr>
          <p:spPr>
            <a:xfrm>
              <a:off x="2633225" y="407600"/>
              <a:ext cx="37266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2"/>
                </a:solidFill>
              </a:endParaRPr>
            </a:p>
          </p:txBody>
        </p:sp>
        <p:sp>
          <p:nvSpPr>
            <p:cNvPr id="112" name="Google Shape;112;p19"/>
            <p:cNvSpPr txBox="1"/>
            <p:nvPr/>
          </p:nvSpPr>
          <p:spPr>
            <a:xfrm>
              <a:off x="313775" y="4690625"/>
              <a:ext cx="8365500" cy="377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lvl="0" algn="r">
                <a:buClr>
                  <a:schemeClr val="dk1"/>
                </a:buClr>
                <a:buSzPts val="1100"/>
              </a:pPr>
              <a:r>
                <a:rPr lang="en-GB" sz="800" dirty="0">
                  <a:solidFill>
                    <a:schemeClr val="dk1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dean.lawrence@avanade.com</a:t>
              </a:r>
            </a:p>
            <a:p>
              <a:pPr lvl="0" algn="r">
                <a:buClr>
                  <a:schemeClr val="dk1"/>
                </a:buClr>
                <a:buSzPts val="1100"/>
              </a:pPr>
              <a:r>
                <a:rPr lang="en-GB" sz="800" dirty="0">
                  <a:solidFill>
                    <a:schemeClr val="dk1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github.com/deanl1982/llm101</a:t>
              </a:r>
            </a:p>
            <a:p>
              <a:pPr lvl="0" algn="ctr"/>
              <a:endParaRPr lang="en-GB" sz="800" dirty="0">
                <a:latin typeface="Roboto Mono"/>
                <a:ea typeface="Roboto Mono"/>
                <a:cs typeface="Roboto Mono"/>
                <a:sym typeface="Roboto Mono"/>
              </a:endParaRPr>
            </a:p>
          </p:txBody>
        </p:sp>
        <p:sp>
          <p:nvSpPr>
            <p:cNvPr id="113" name="Google Shape;113;p19"/>
            <p:cNvSpPr txBox="1"/>
            <p:nvPr/>
          </p:nvSpPr>
          <p:spPr>
            <a:xfrm>
              <a:off x="427025" y="2138650"/>
              <a:ext cx="8365500" cy="377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200" b="1" i="1">
                  <a:latin typeface="Roboto Mono"/>
                  <a:ea typeface="Roboto Mono"/>
                  <a:cs typeface="Roboto Mono"/>
                  <a:sym typeface="Roboto Mono"/>
                </a:rPr>
                <a:t>ai-101</a:t>
              </a:r>
              <a:endParaRPr sz="1200" b="1" i="1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</p:txBody>
        </p:sp>
      </p:grpSp>
      <p:pic>
        <p:nvPicPr>
          <p:cNvPr id="114" name="Google Shape;114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915125" y="327826"/>
            <a:ext cx="3877402" cy="2355225"/>
          </a:xfrm>
          <a:prstGeom prst="rect">
            <a:avLst/>
          </a:prstGeom>
          <a:noFill/>
          <a:ln>
            <a:noFill/>
          </a:ln>
        </p:spPr>
      </p:pic>
      <p:sp>
        <p:nvSpPr>
          <p:cNvPr id="115" name="Google Shape;115;p19"/>
          <p:cNvSpPr txBox="1"/>
          <p:nvPr/>
        </p:nvSpPr>
        <p:spPr>
          <a:xfrm>
            <a:off x="4915075" y="2683050"/>
            <a:ext cx="3877500" cy="32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i="1" dirty="0"/>
              <a:t>https://tiktokenizer.vercel.app</a:t>
            </a:r>
            <a:endParaRPr sz="900" i="1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0" name="Google Shape;120;p20"/>
          <p:cNvGrpSpPr/>
          <p:nvPr/>
        </p:nvGrpSpPr>
        <p:grpSpPr>
          <a:xfrm>
            <a:off x="362925" y="407600"/>
            <a:ext cx="8429600" cy="4602150"/>
            <a:chOff x="362925" y="407600"/>
            <a:chExt cx="8429600" cy="4602150"/>
          </a:xfrm>
        </p:grpSpPr>
        <p:sp>
          <p:nvSpPr>
            <p:cNvPr id="121" name="Google Shape;121;p20"/>
            <p:cNvSpPr/>
            <p:nvPr/>
          </p:nvSpPr>
          <p:spPr>
            <a:xfrm>
              <a:off x="362925" y="3810650"/>
              <a:ext cx="1696200" cy="1199100"/>
            </a:xfrm>
            <a:prstGeom prst="rect">
              <a:avLst/>
            </a:prstGeom>
            <a:solidFill>
              <a:schemeClr val="lt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22" name="Google Shape;122;p20"/>
            <p:cNvGrpSpPr/>
            <p:nvPr/>
          </p:nvGrpSpPr>
          <p:grpSpPr>
            <a:xfrm>
              <a:off x="389250" y="407600"/>
              <a:ext cx="8403275" cy="4412350"/>
              <a:chOff x="389250" y="407600"/>
              <a:chExt cx="8403275" cy="4412350"/>
            </a:xfrm>
          </p:grpSpPr>
          <p:sp>
            <p:nvSpPr>
              <p:cNvPr id="123" name="Google Shape;123;p20"/>
              <p:cNvSpPr txBox="1"/>
              <p:nvPr/>
            </p:nvSpPr>
            <p:spPr>
              <a:xfrm>
                <a:off x="389250" y="2600850"/>
                <a:ext cx="8365500" cy="2219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GB" sz="1100" dirty="0">
                    <a:solidFill>
                      <a:schemeClr val="dk2"/>
                    </a:solidFill>
                    <a:latin typeface="Roboto Mono"/>
                    <a:ea typeface="Roboto Mono"/>
                    <a:cs typeface="Roboto Mono"/>
                    <a:sym typeface="Roboto Mono"/>
                  </a:rPr>
                  <a:t># how models are trained</a:t>
                </a:r>
                <a:endParaRPr sz="11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endParaRPr>
              </a:p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1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endParaRPr>
              </a:p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1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endParaRPr>
              </a:p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GB" sz="1100" dirty="0">
                    <a:solidFill>
                      <a:schemeClr val="dk2"/>
                    </a:solidFill>
                    <a:latin typeface="Roboto Mono"/>
                    <a:ea typeface="Roboto Mono"/>
                    <a:cs typeface="Roboto Mono"/>
                    <a:sym typeface="Roboto Mono"/>
                  </a:rPr>
                  <a:t>## embedding</a:t>
                </a:r>
                <a:endParaRPr sz="11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endParaRPr>
              </a:p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1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endParaRPr>
              </a:p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GB" sz="1100" dirty="0">
                    <a:solidFill>
                      <a:schemeClr val="dk2"/>
                    </a:solidFill>
                    <a:latin typeface="Roboto Mono"/>
                    <a:ea typeface="Roboto Mono"/>
                    <a:cs typeface="Roboto Mono"/>
                    <a:sym typeface="Roboto Mono"/>
                  </a:rPr>
                  <a:t>before being processed by the transformer, all tokens are assigned an initial randomised </a:t>
                </a:r>
                <a:r>
                  <a:rPr lang="en-GB" sz="1100" u="sng" dirty="0">
                    <a:solidFill>
                      <a:schemeClr val="dk2"/>
                    </a:solidFill>
                    <a:latin typeface="Roboto Mono"/>
                    <a:ea typeface="Roboto Mono"/>
                    <a:cs typeface="Roboto Mono"/>
                    <a:sym typeface="Roboto Mono"/>
                  </a:rPr>
                  <a:t>weight</a:t>
                </a:r>
                <a:r>
                  <a:rPr lang="en-GB" sz="1100" dirty="0">
                    <a:solidFill>
                      <a:schemeClr val="dk2"/>
                    </a:solidFill>
                    <a:latin typeface="Roboto Mono"/>
                    <a:ea typeface="Roboto Mono"/>
                    <a:cs typeface="Roboto Mono"/>
                    <a:sym typeface="Roboto Mono"/>
                  </a:rPr>
                  <a:t>:</a:t>
                </a:r>
                <a:endParaRPr sz="11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endParaRPr>
              </a:p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1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endParaRPr>
              </a:p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GB" sz="1100" dirty="0">
                    <a:solidFill>
                      <a:schemeClr val="dk2"/>
                    </a:solidFill>
                    <a:latin typeface="Roboto Mono"/>
                    <a:ea typeface="Roboto Mono"/>
                    <a:cs typeface="Roboto Mono"/>
                    <a:sym typeface="Roboto Mono"/>
                  </a:rPr>
                  <a:t>token		weight₁	weight₂	weight₃	weight₄ </a:t>
                </a:r>
                <a:endParaRPr sz="11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endParaRPr>
              </a:p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GB" sz="1100" dirty="0">
                    <a:solidFill>
                      <a:schemeClr val="dk2"/>
                    </a:solidFill>
                    <a:latin typeface="Roboto Mono"/>
                    <a:ea typeface="Roboto Mono"/>
                    <a:cs typeface="Roboto Mono"/>
                    <a:sym typeface="Roboto Mono"/>
                  </a:rPr>
                  <a:t>"the"		0.847	-0.312	1.456	-0.723 </a:t>
                </a:r>
                <a:endParaRPr sz="11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endParaRPr>
              </a:p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GB" sz="1100" dirty="0">
                    <a:solidFill>
                      <a:schemeClr val="dk2"/>
                    </a:solidFill>
                    <a:latin typeface="Roboto Mono"/>
                    <a:ea typeface="Roboto Mono"/>
                    <a:cs typeface="Roboto Mono"/>
                    <a:sym typeface="Roboto Mono"/>
                  </a:rPr>
                  <a:t>"cat"		0.823 	0.591	-1.023	0.445 </a:t>
                </a:r>
                <a:endParaRPr sz="11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endParaRPr>
              </a:p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GB" sz="1100" dirty="0">
                    <a:solidFill>
                      <a:schemeClr val="dk2"/>
                    </a:solidFill>
                    <a:latin typeface="Roboto Mono"/>
                    <a:ea typeface="Roboto Mono"/>
                    <a:cs typeface="Roboto Mono"/>
                    <a:sym typeface="Roboto Mono"/>
                  </a:rPr>
                  <a:t>"sat"		-0.567	1.234	0.892	-0.156 </a:t>
                </a:r>
                <a:endParaRPr sz="11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endParaRPr>
              </a:p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GB" sz="1100" dirty="0">
                    <a:solidFill>
                      <a:schemeClr val="dk2"/>
                    </a:solidFill>
                    <a:latin typeface="Roboto Mono"/>
                    <a:ea typeface="Roboto Mono"/>
                    <a:cs typeface="Roboto Mono"/>
                    <a:sym typeface="Roboto Mono"/>
                  </a:rPr>
                  <a:t>"on"		0.723	-0.891	0.334	1.567 </a:t>
                </a:r>
                <a:endParaRPr sz="11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endParaRPr>
              </a:p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GB" sz="1100" dirty="0">
                    <a:solidFill>
                      <a:schemeClr val="dk2"/>
                    </a:solidFill>
                    <a:latin typeface="Roboto Mono"/>
                    <a:ea typeface="Roboto Mono"/>
                    <a:cs typeface="Roboto Mono"/>
                    <a:sym typeface="Roboto Mono"/>
                  </a:rPr>
                  <a:t>"the"		1.445	0.223	-0.778	0.901</a:t>
                </a:r>
                <a:endParaRPr sz="11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endParaRPr>
              </a:p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1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endParaRPr>
              </a:p>
            </p:txBody>
          </p:sp>
          <p:sp>
            <p:nvSpPr>
              <p:cNvPr id="124" name="Google Shape;124;p20"/>
              <p:cNvSpPr txBox="1"/>
              <p:nvPr/>
            </p:nvSpPr>
            <p:spPr>
              <a:xfrm>
                <a:off x="2633225" y="407600"/>
                <a:ext cx="3726600" cy="46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2"/>
                  </a:solidFill>
                </a:endParaRPr>
              </a:p>
            </p:txBody>
          </p:sp>
          <p:sp>
            <p:nvSpPr>
              <p:cNvPr id="126" name="Google Shape;126;p20"/>
              <p:cNvSpPr txBox="1"/>
              <p:nvPr/>
            </p:nvSpPr>
            <p:spPr>
              <a:xfrm>
                <a:off x="427025" y="2138650"/>
                <a:ext cx="8365500" cy="377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GB" sz="1200" b="1" i="1">
                    <a:latin typeface="Roboto Mono"/>
                    <a:ea typeface="Roboto Mono"/>
                    <a:cs typeface="Roboto Mono"/>
                    <a:sym typeface="Roboto Mono"/>
                  </a:rPr>
                  <a:t>ai-101</a:t>
                </a:r>
                <a:endParaRPr sz="1200" b="1" i="1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endParaRPr>
              </a:p>
            </p:txBody>
          </p:sp>
        </p:grpSp>
      </p:grpSp>
      <p:sp>
        <p:nvSpPr>
          <p:cNvPr id="2" name="Google Shape;103;p18">
            <a:extLst>
              <a:ext uri="{FF2B5EF4-FFF2-40B4-BE49-F238E27FC236}">
                <a16:creationId xmlns:a16="http://schemas.microsoft.com/office/drawing/2014/main" id="{9EECC1A8-6DE1-9802-E001-29FDAF24DB2A}"/>
              </a:ext>
            </a:extLst>
          </p:cNvPr>
          <p:cNvSpPr txBox="1"/>
          <p:nvPr/>
        </p:nvSpPr>
        <p:spPr>
          <a:xfrm>
            <a:off x="313775" y="4690625"/>
            <a:ext cx="8365500" cy="37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 algn="r">
              <a:buClr>
                <a:schemeClr val="dk1"/>
              </a:buClr>
              <a:buSzPts val="1100"/>
            </a:pPr>
            <a:r>
              <a:rPr lang="en-GB" sz="800" dirty="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dean.lawrence@avanade.com</a:t>
            </a:r>
          </a:p>
          <a:p>
            <a:pPr lvl="0" algn="r">
              <a:buClr>
                <a:schemeClr val="dk1"/>
              </a:buClr>
              <a:buSzPts val="1100"/>
            </a:pPr>
            <a:r>
              <a:rPr lang="en-GB" sz="800" dirty="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github.com/deanl1982/llm101</a:t>
            </a:r>
          </a:p>
          <a:p>
            <a:pPr lvl="0" algn="ctr"/>
            <a:endParaRPr lang="en-GB" sz="800" dirty="0">
              <a:latin typeface="Roboto Mono"/>
              <a:ea typeface="Roboto Mono"/>
              <a:cs typeface="Roboto Mono"/>
              <a:sym typeface="Roboto Mono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1" name="Google Shape;131;p21"/>
          <p:cNvGrpSpPr/>
          <p:nvPr/>
        </p:nvGrpSpPr>
        <p:grpSpPr>
          <a:xfrm>
            <a:off x="313775" y="407600"/>
            <a:ext cx="8478750" cy="4697050"/>
            <a:chOff x="313775" y="407600"/>
            <a:chExt cx="8478750" cy="4697050"/>
          </a:xfrm>
        </p:grpSpPr>
        <p:sp>
          <p:nvSpPr>
            <p:cNvPr id="132" name="Google Shape;132;p21"/>
            <p:cNvSpPr txBox="1"/>
            <p:nvPr/>
          </p:nvSpPr>
          <p:spPr>
            <a:xfrm>
              <a:off x="389250" y="2600850"/>
              <a:ext cx="8365500" cy="2503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# how models are trained</a:t>
              </a: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## training data is then fed into the transformer</a:t>
              </a: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“the cat sat on the mat"</a:t>
              </a: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"the dog sat on the couch"</a:t>
              </a: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"the bird sat on the branch"</a:t>
              </a: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"my cat loves sitting on warm surfaces"</a:t>
              </a: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"cats often sit on mats, rugs, and furniture"</a:t>
              </a: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"the kitten sat on the cushion"</a:t>
              </a: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"animals sit on comfortable places"</a:t>
              </a: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"she placed the mat down and the cat sat on it"</a:t>
              </a: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</p:txBody>
        </p:sp>
        <p:sp>
          <p:nvSpPr>
            <p:cNvPr id="133" name="Google Shape;133;p21"/>
            <p:cNvSpPr txBox="1"/>
            <p:nvPr/>
          </p:nvSpPr>
          <p:spPr>
            <a:xfrm>
              <a:off x="2633225" y="407600"/>
              <a:ext cx="37266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2"/>
                </a:solidFill>
              </a:endParaRPr>
            </a:p>
          </p:txBody>
        </p:sp>
        <p:sp>
          <p:nvSpPr>
            <p:cNvPr id="134" name="Google Shape;134;p21"/>
            <p:cNvSpPr txBox="1"/>
            <p:nvPr/>
          </p:nvSpPr>
          <p:spPr>
            <a:xfrm>
              <a:off x="313775" y="4690625"/>
              <a:ext cx="8365500" cy="377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lvl="0" algn="r">
                <a:buClr>
                  <a:schemeClr val="dk1"/>
                </a:buClr>
                <a:buSzPts val="1100"/>
              </a:pPr>
              <a:r>
                <a:rPr lang="en-GB" sz="900" dirty="0">
                  <a:solidFill>
                    <a:schemeClr val="dk1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dean.lawrence@avanade.com</a:t>
              </a:r>
            </a:p>
            <a:p>
              <a:pPr lvl="0" algn="r">
                <a:buClr>
                  <a:schemeClr val="dk1"/>
                </a:buClr>
                <a:buSzPts val="1100"/>
              </a:pPr>
              <a:r>
                <a:rPr lang="en-GB" sz="900" dirty="0">
                  <a:solidFill>
                    <a:schemeClr val="dk1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github.com/deanl1982/llm101</a:t>
              </a:r>
            </a:p>
            <a:p>
              <a:pPr lvl="0" algn="ctr"/>
              <a:endParaRPr lang="en-GB" sz="900" dirty="0">
                <a:latin typeface="Roboto Mono"/>
                <a:ea typeface="Roboto Mono"/>
                <a:cs typeface="Roboto Mono"/>
                <a:sym typeface="Roboto Mono"/>
              </a:endParaRPr>
            </a:p>
          </p:txBody>
        </p:sp>
        <p:sp>
          <p:nvSpPr>
            <p:cNvPr id="135" name="Google Shape;135;p21"/>
            <p:cNvSpPr txBox="1"/>
            <p:nvPr/>
          </p:nvSpPr>
          <p:spPr>
            <a:xfrm>
              <a:off x="427025" y="2138650"/>
              <a:ext cx="8365500" cy="377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200" b="1" i="1">
                  <a:latin typeface="Roboto Mono"/>
                  <a:ea typeface="Roboto Mono"/>
                  <a:cs typeface="Roboto Mono"/>
                  <a:sym typeface="Roboto Mono"/>
                </a:rPr>
                <a:t>ai-101</a:t>
              </a:r>
              <a:endParaRPr sz="1200" b="1" i="1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0" name="Google Shape;140;p22"/>
          <p:cNvGrpSpPr/>
          <p:nvPr/>
        </p:nvGrpSpPr>
        <p:grpSpPr>
          <a:xfrm>
            <a:off x="389250" y="407600"/>
            <a:ext cx="8403275" cy="4703650"/>
            <a:chOff x="389250" y="407600"/>
            <a:chExt cx="8403275" cy="4703650"/>
          </a:xfrm>
        </p:grpSpPr>
        <p:sp>
          <p:nvSpPr>
            <p:cNvPr id="141" name="Google Shape;141;p22"/>
            <p:cNvSpPr txBox="1"/>
            <p:nvPr/>
          </p:nvSpPr>
          <p:spPr>
            <a:xfrm>
              <a:off x="389250" y="2600850"/>
              <a:ext cx="8290025" cy="2510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# recognising language, layer by layer</a:t>
              </a: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GB" sz="1100" dirty="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lvl="0"/>
              <a:r>
                <a:rPr lang="en-GB" sz="1100" b="1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layer 1 — tokens </a:t>
              </a:r>
              <a:r>
                <a:rPr lang="en-GB" sz="11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&gt; breaks the sentence into pieces &gt; "the", "cat", "sat", "on", "the", "mat". just raw fragments, no meaning yet.</a:t>
              </a: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GB" sz="1100" b="1" dirty="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 b="1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layer 2 — word relationships </a:t>
              </a:r>
              <a:r>
                <a:rPr lang="en-GB" sz="11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&gt; which words relate to which? it spots that "cat" connects to "sat" (the cat is doing the sitting). still no understanding — just patterns of association.</a:t>
              </a: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GB" sz="1100" dirty="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 b="1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layer 3 — context </a:t>
              </a:r>
              <a:r>
                <a:rPr lang="en-GB" sz="11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&gt; what role does each word play? it recognises "cat" is the subject, "mat" is the location. it notices this follows patterns it's seen millions of times before.</a:t>
              </a: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GB" sz="1100" dirty="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 b="1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layer 4 — meaning </a:t>
              </a:r>
              <a:r>
                <a:rPr lang="en-GB" sz="11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&gt; "what word likely comes next?“ based on all those patterns, it can now predict: if the sentence continued, words like "and purred" or "then jumped" would fit. words like "elephant" or "quantum" would not.</a:t>
              </a:r>
            </a:p>
          </p:txBody>
        </p:sp>
        <p:sp>
          <p:nvSpPr>
            <p:cNvPr id="142" name="Google Shape;142;p22"/>
            <p:cNvSpPr txBox="1"/>
            <p:nvPr/>
          </p:nvSpPr>
          <p:spPr>
            <a:xfrm>
              <a:off x="2633225" y="407600"/>
              <a:ext cx="37266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2"/>
                </a:solidFill>
              </a:endParaRPr>
            </a:p>
          </p:txBody>
        </p:sp>
        <p:sp>
          <p:nvSpPr>
            <p:cNvPr id="144" name="Google Shape;144;p22"/>
            <p:cNvSpPr txBox="1"/>
            <p:nvPr/>
          </p:nvSpPr>
          <p:spPr>
            <a:xfrm>
              <a:off x="427025" y="2138650"/>
              <a:ext cx="8365500" cy="377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200" b="1" i="1" dirty="0">
                  <a:latin typeface="Roboto Mono"/>
                  <a:ea typeface="Roboto Mono"/>
                  <a:cs typeface="Roboto Mono"/>
                  <a:sym typeface="Roboto Mono"/>
                </a:rPr>
                <a:t>ai-101</a:t>
              </a:r>
              <a:endParaRPr sz="1200" b="1" i="1" dirty="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</p:txBody>
        </p:sp>
      </p:grpSp>
      <p:pic>
        <p:nvPicPr>
          <p:cNvPr id="145" name="Google Shape;145;p2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439920" y="132692"/>
            <a:ext cx="4594193" cy="2793387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22"/>
          <p:cNvSpPr txBox="1"/>
          <p:nvPr/>
        </p:nvSpPr>
        <p:spPr>
          <a:xfrm>
            <a:off x="4723175" y="2670642"/>
            <a:ext cx="3956100" cy="27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00" i="1" dirty="0"/>
              <a:t>Source: https://www.scalablepath.com/machine-learning/chatgpt-architecture-explained</a:t>
            </a:r>
            <a:endParaRPr sz="600" i="1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>
          <a:extLst>
            <a:ext uri="{FF2B5EF4-FFF2-40B4-BE49-F238E27FC236}">
              <a16:creationId xmlns:a16="http://schemas.microsoft.com/office/drawing/2014/main" id="{18AE7526-BD05-574A-F3EA-0816959222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0" name="Google Shape;140;p22">
            <a:extLst>
              <a:ext uri="{FF2B5EF4-FFF2-40B4-BE49-F238E27FC236}">
                <a16:creationId xmlns:a16="http://schemas.microsoft.com/office/drawing/2014/main" id="{565FC2EE-A047-9A00-C352-B3A7521CCD0D}"/>
              </a:ext>
            </a:extLst>
          </p:cNvPr>
          <p:cNvGrpSpPr/>
          <p:nvPr/>
        </p:nvGrpSpPr>
        <p:grpSpPr>
          <a:xfrm>
            <a:off x="313775" y="407600"/>
            <a:ext cx="8478750" cy="4703650"/>
            <a:chOff x="313775" y="407600"/>
            <a:chExt cx="8478750" cy="4703650"/>
          </a:xfrm>
        </p:grpSpPr>
        <p:sp>
          <p:nvSpPr>
            <p:cNvPr id="141" name="Google Shape;141;p22">
              <a:extLst>
                <a:ext uri="{FF2B5EF4-FFF2-40B4-BE49-F238E27FC236}">
                  <a16:creationId xmlns:a16="http://schemas.microsoft.com/office/drawing/2014/main" id="{C226A4FB-9F3D-DBE0-7B76-DDDDD067A9E6}"/>
                </a:ext>
              </a:extLst>
            </p:cNvPr>
            <p:cNvSpPr txBox="1"/>
            <p:nvPr/>
          </p:nvSpPr>
          <p:spPr>
            <a:xfrm>
              <a:off x="389250" y="2600850"/>
              <a:ext cx="8365500" cy="2510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# how models are trained</a:t>
              </a:r>
              <a:endParaRPr sz="1100" dirty="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100" dirty="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100" dirty="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## training run</a:t>
              </a:r>
              <a:endParaRPr sz="1100" dirty="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100" dirty="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100" dirty="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 b="1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weights</a:t>
              </a:r>
              <a:r>
                <a:rPr lang="en-GB" sz="11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 change as token make their way through the transformer </a:t>
              </a:r>
              <a:r>
                <a:rPr lang="en-GB" sz="1100" b="1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layers</a:t>
              </a:r>
              <a:endParaRPr sz="1100" b="1" dirty="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and new </a:t>
              </a:r>
              <a:r>
                <a:rPr lang="en-GB" sz="1100" b="1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patterns</a:t>
              </a:r>
              <a:r>
                <a:rPr lang="en-GB" sz="11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 in the data are found, </a:t>
              </a:r>
              <a:r>
                <a:rPr lang="en-GB" sz="1100" b="1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semantically similar </a:t>
              </a:r>
              <a:r>
                <a:rPr lang="en-GB" sz="11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words are clustered </a:t>
              </a:r>
              <a:r>
                <a:rPr lang="en-GB" sz="1100" b="1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closer</a:t>
              </a:r>
              <a:r>
                <a:rPr lang="en-GB" sz="11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 together</a:t>
              </a:r>
              <a:endParaRPr sz="1100" dirty="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100" dirty="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"cat" → [</a:t>
              </a:r>
              <a:r>
                <a:rPr lang="en-GB" sz="1100" b="1" dirty="0">
                  <a:solidFill>
                    <a:srgbClr val="FF0000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0.823</a:t>
              </a:r>
              <a:r>
                <a:rPr lang="en-GB" sz="11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 &gt; 0.654 &gt; -0.234 &gt; 0.445 &gt; </a:t>
              </a:r>
              <a:r>
                <a:rPr lang="en-GB" sz="1100" b="1" dirty="0">
                  <a:solidFill>
                    <a:srgbClr val="00B050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0.912</a:t>
              </a:r>
              <a:r>
                <a:rPr lang="en-GB" sz="11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]</a:t>
              </a:r>
              <a:endParaRPr sz="1100" dirty="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"mat" → [</a:t>
              </a:r>
              <a:r>
                <a:rPr lang="en-GB" sz="1100" b="1" dirty="0">
                  <a:solidFill>
                    <a:srgbClr val="FF0000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1.798</a:t>
              </a:r>
              <a:r>
                <a:rPr lang="en-GB" sz="11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 &gt; 1.642 &gt; 1.210  &gt; 0.938 &gt; </a:t>
              </a:r>
              <a:r>
                <a:rPr lang="en-GB" sz="1100" b="1" dirty="0">
                  <a:solidFill>
                    <a:srgbClr val="00B050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0.895</a:t>
              </a:r>
              <a:r>
                <a:rPr lang="en-GB" sz="11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] ← closer to "cat"</a:t>
              </a:r>
              <a:endParaRPr sz="1100" dirty="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100" dirty="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</p:txBody>
        </p:sp>
        <p:sp>
          <p:nvSpPr>
            <p:cNvPr id="142" name="Google Shape;142;p22">
              <a:extLst>
                <a:ext uri="{FF2B5EF4-FFF2-40B4-BE49-F238E27FC236}">
                  <a16:creationId xmlns:a16="http://schemas.microsoft.com/office/drawing/2014/main" id="{88A2E4CB-4346-8158-8FCB-784C34958AD9}"/>
                </a:ext>
              </a:extLst>
            </p:cNvPr>
            <p:cNvSpPr txBox="1"/>
            <p:nvPr/>
          </p:nvSpPr>
          <p:spPr>
            <a:xfrm>
              <a:off x="2633225" y="407600"/>
              <a:ext cx="37266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2"/>
                </a:solidFill>
              </a:endParaRPr>
            </a:p>
          </p:txBody>
        </p:sp>
        <p:sp>
          <p:nvSpPr>
            <p:cNvPr id="143" name="Google Shape;143;p22">
              <a:extLst>
                <a:ext uri="{FF2B5EF4-FFF2-40B4-BE49-F238E27FC236}">
                  <a16:creationId xmlns:a16="http://schemas.microsoft.com/office/drawing/2014/main" id="{BE937FD5-685B-2AF9-E30A-2F560475EB88}"/>
                </a:ext>
              </a:extLst>
            </p:cNvPr>
            <p:cNvSpPr txBox="1"/>
            <p:nvPr/>
          </p:nvSpPr>
          <p:spPr>
            <a:xfrm>
              <a:off x="313775" y="4690625"/>
              <a:ext cx="8365500" cy="377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lvl="0" algn="r">
                <a:buClr>
                  <a:schemeClr val="dk1"/>
                </a:buClr>
                <a:buSzPts val="1100"/>
              </a:pPr>
              <a:r>
                <a:rPr lang="en-GB" sz="900" dirty="0">
                  <a:solidFill>
                    <a:schemeClr val="dk1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dean.lawrence@avanade.com</a:t>
              </a:r>
            </a:p>
            <a:p>
              <a:pPr lvl="0" algn="r">
                <a:buClr>
                  <a:schemeClr val="dk1"/>
                </a:buClr>
                <a:buSzPts val="1100"/>
              </a:pPr>
              <a:r>
                <a:rPr lang="en-GB" sz="900" dirty="0">
                  <a:solidFill>
                    <a:schemeClr val="dk1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github.com/deanl1982/llm101</a:t>
              </a:r>
            </a:p>
            <a:p>
              <a:pPr lvl="0" algn="ctr"/>
              <a:endParaRPr lang="en-GB" sz="900" dirty="0">
                <a:latin typeface="Roboto Mono"/>
                <a:ea typeface="Roboto Mono"/>
                <a:cs typeface="Roboto Mono"/>
                <a:sym typeface="Roboto Mono"/>
              </a:endParaRPr>
            </a:p>
          </p:txBody>
        </p:sp>
        <p:sp>
          <p:nvSpPr>
            <p:cNvPr id="144" name="Google Shape;144;p22">
              <a:extLst>
                <a:ext uri="{FF2B5EF4-FFF2-40B4-BE49-F238E27FC236}">
                  <a16:creationId xmlns:a16="http://schemas.microsoft.com/office/drawing/2014/main" id="{EA97C492-3232-31D0-F955-FDCA2340C2B4}"/>
                </a:ext>
              </a:extLst>
            </p:cNvPr>
            <p:cNvSpPr txBox="1"/>
            <p:nvPr/>
          </p:nvSpPr>
          <p:spPr>
            <a:xfrm>
              <a:off x="427025" y="2138650"/>
              <a:ext cx="8365500" cy="377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200" b="1" i="1">
                  <a:latin typeface="Roboto Mono"/>
                  <a:ea typeface="Roboto Mono"/>
                  <a:cs typeface="Roboto Mono"/>
                  <a:sym typeface="Roboto Mono"/>
                </a:rPr>
                <a:t>ai-101</a:t>
              </a:r>
              <a:endParaRPr sz="1200" b="1" i="1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4544225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1" name="Google Shape;151;p23"/>
          <p:cNvGrpSpPr/>
          <p:nvPr/>
        </p:nvGrpSpPr>
        <p:grpSpPr>
          <a:xfrm>
            <a:off x="313775" y="407600"/>
            <a:ext cx="8478750" cy="4660725"/>
            <a:chOff x="313775" y="407600"/>
            <a:chExt cx="8478750" cy="4660725"/>
          </a:xfrm>
        </p:grpSpPr>
        <p:sp>
          <p:nvSpPr>
            <p:cNvPr id="152" name="Google Shape;152;p23"/>
            <p:cNvSpPr txBox="1"/>
            <p:nvPr/>
          </p:nvSpPr>
          <p:spPr>
            <a:xfrm>
              <a:off x="389250" y="2600850"/>
              <a:ext cx="8365500" cy="2219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# how models are trained</a:t>
              </a:r>
              <a:endParaRPr sz="1100" dirty="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100" dirty="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100" dirty="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## </a:t>
              </a:r>
              <a:r>
                <a:rPr lang="en-GB" sz="1100" dirty="0">
                  <a:solidFill>
                    <a:srgbClr val="FF0000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semantic similarity</a:t>
              </a:r>
              <a:endParaRPr sz="1100" dirty="0">
                <a:solidFill>
                  <a:srgbClr val="FF0000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100" dirty="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before training: </a:t>
              </a:r>
              <a:endParaRPr sz="1100" dirty="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100" dirty="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 "cat"                  "mat" </a:t>
              </a:r>
              <a:endParaRPr sz="1100" dirty="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  🐱 ←───── 0.975 ─────→ 🧘 </a:t>
              </a:r>
              <a:endParaRPr sz="1100" dirty="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100" dirty="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after training: </a:t>
              </a:r>
              <a:endParaRPr sz="1100" dirty="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100" dirty="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 "cat"        "mat"</a:t>
              </a:r>
              <a:endParaRPr sz="1100" dirty="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  🐱←─ 0.017 ─→🧘</a:t>
              </a:r>
              <a:endParaRPr sz="1100" dirty="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</p:txBody>
        </p:sp>
        <p:sp>
          <p:nvSpPr>
            <p:cNvPr id="153" name="Google Shape;153;p23"/>
            <p:cNvSpPr txBox="1"/>
            <p:nvPr/>
          </p:nvSpPr>
          <p:spPr>
            <a:xfrm>
              <a:off x="2633225" y="407600"/>
              <a:ext cx="37266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2"/>
                </a:solidFill>
              </a:endParaRPr>
            </a:p>
          </p:txBody>
        </p:sp>
        <p:sp>
          <p:nvSpPr>
            <p:cNvPr id="154" name="Google Shape;154;p23"/>
            <p:cNvSpPr txBox="1"/>
            <p:nvPr/>
          </p:nvSpPr>
          <p:spPr>
            <a:xfrm>
              <a:off x="313775" y="4690625"/>
              <a:ext cx="8365500" cy="377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lvl="0" algn="r">
                <a:buClr>
                  <a:schemeClr val="dk1"/>
                </a:buClr>
                <a:buSzPts val="1100"/>
              </a:pPr>
              <a:r>
                <a:rPr lang="en-GB" sz="900" dirty="0">
                  <a:solidFill>
                    <a:schemeClr val="dk1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dean.lawrence@avanade.com</a:t>
              </a:r>
            </a:p>
            <a:p>
              <a:pPr lvl="0" algn="r">
                <a:buClr>
                  <a:schemeClr val="dk1"/>
                </a:buClr>
                <a:buSzPts val="1100"/>
              </a:pPr>
              <a:r>
                <a:rPr lang="en-GB" sz="900" dirty="0">
                  <a:solidFill>
                    <a:schemeClr val="dk1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github.com/deanl1982/llm101</a:t>
              </a:r>
            </a:p>
            <a:p>
              <a:pPr lvl="0" algn="ctr"/>
              <a:endParaRPr lang="en-GB" sz="900" dirty="0">
                <a:latin typeface="Roboto Mono"/>
                <a:ea typeface="Roboto Mono"/>
                <a:cs typeface="Roboto Mono"/>
                <a:sym typeface="Roboto Mono"/>
              </a:endParaRPr>
            </a:p>
          </p:txBody>
        </p:sp>
        <p:sp>
          <p:nvSpPr>
            <p:cNvPr id="155" name="Google Shape;155;p23"/>
            <p:cNvSpPr txBox="1"/>
            <p:nvPr/>
          </p:nvSpPr>
          <p:spPr>
            <a:xfrm>
              <a:off x="427025" y="2138650"/>
              <a:ext cx="8365500" cy="377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200" b="1" i="1">
                  <a:latin typeface="Roboto Mono"/>
                  <a:ea typeface="Roboto Mono"/>
                  <a:cs typeface="Roboto Mono"/>
                  <a:sym typeface="Roboto Mono"/>
                </a:rPr>
                <a:t>ai-101</a:t>
              </a:r>
              <a:endParaRPr sz="1200" b="1" i="1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0" name="Google Shape;160;p24"/>
          <p:cNvGrpSpPr/>
          <p:nvPr/>
        </p:nvGrpSpPr>
        <p:grpSpPr>
          <a:xfrm>
            <a:off x="313775" y="407600"/>
            <a:ext cx="8478750" cy="4660725"/>
            <a:chOff x="313775" y="407600"/>
            <a:chExt cx="8478750" cy="4660725"/>
          </a:xfrm>
        </p:grpSpPr>
        <p:sp>
          <p:nvSpPr>
            <p:cNvPr id="161" name="Google Shape;161;p24"/>
            <p:cNvSpPr txBox="1"/>
            <p:nvPr/>
          </p:nvSpPr>
          <p:spPr>
            <a:xfrm>
              <a:off x="389250" y="2600850"/>
              <a:ext cx="8365500" cy="2219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# sources &amp; useful links</a:t>
              </a:r>
              <a:endParaRPr sz="1100" dirty="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100" dirty="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lvl="0"/>
              <a:r>
                <a:rPr lang="en-GB" sz="8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# </a:t>
              </a:r>
              <a:r>
                <a:rPr lang="en-GB" sz="800" dirty="0">
                  <a:solidFill>
                    <a:schemeClr val="dk2"/>
                  </a:solidFill>
                  <a:latin typeface="Roboto Mono"/>
                  <a:ea typeface="Roboto Mono"/>
                  <a:hlinkClick r:id="rId3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how modern ai models learn: from raw text to helpful assistants</a:t>
              </a:r>
              <a:endParaRPr lang="en-GB" sz="800" dirty="0">
                <a:solidFill>
                  <a:schemeClr val="dk2"/>
                </a:solidFill>
                <a:latin typeface="Roboto Mono"/>
                <a:ea typeface="Roboto Mono"/>
              </a:endParaRPr>
            </a:p>
            <a:p>
              <a:pPr lvl="0"/>
              <a:endParaRPr lang="en-GB" sz="800" dirty="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lvl="0"/>
              <a:r>
                <a:rPr lang="en-GB" sz="8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# </a:t>
              </a:r>
              <a:r>
                <a:rPr lang="en-GB" sz="800" dirty="0">
                  <a:solidFill>
                    <a:schemeClr val="dk2"/>
                  </a:solidFill>
                  <a:latin typeface="Roboto Mono"/>
                  <a:ea typeface="Roboto Mono"/>
                  <a:hlinkClick r:id="rId4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loss isn’t failure: it’s how your ai learns</a:t>
              </a:r>
              <a:endParaRPr lang="en-GB" sz="800" dirty="0">
                <a:solidFill>
                  <a:schemeClr val="dk2"/>
                </a:solidFill>
                <a:latin typeface="Roboto Mono"/>
                <a:ea typeface="Roboto Mono"/>
              </a:endParaRPr>
            </a:p>
            <a:p>
              <a:pPr lvl="0"/>
              <a:endParaRPr lang="en-GB" sz="800" dirty="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lvl="0"/>
              <a:r>
                <a:rPr lang="en-GB" sz="8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# </a:t>
              </a:r>
              <a:r>
                <a:rPr lang="en-GB" sz="800" dirty="0">
                  <a:solidFill>
                    <a:schemeClr val="dk2"/>
                  </a:solidFill>
                  <a:latin typeface="Roboto Mono"/>
                  <a:ea typeface="Roboto Mono"/>
                  <a:hlinkClick r:id="rId5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how </a:t>
              </a:r>
              <a:r>
                <a:rPr lang="en-GB" sz="800" dirty="0" err="1">
                  <a:solidFill>
                    <a:schemeClr val="dk2"/>
                  </a:solidFill>
                  <a:latin typeface="Roboto Mono"/>
                  <a:ea typeface="Roboto Mono"/>
                  <a:hlinkClick r:id="rId5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llms</a:t>
              </a:r>
              <a:r>
                <a:rPr lang="en-GB" sz="800" dirty="0">
                  <a:solidFill>
                    <a:schemeClr val="dk2"/>
                  </a:solidFill>
                  <a:latin typeface="Roboto Mono"/>
                  <a:ea typeface="Roboto Mono"/>
                  <a:hlinkClick r:id="rId5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 decide what to say next: demystifying top-k, top-p, and temperature</a:t>
              </a:r>
              <a:endParaRPr lang="en-GB" sz="800" dirty="0">
                <a:solidFill>
                  <a:schemeClr val="dk2"/>
                </a:solidFill>
                <a:latin typeface="Roboto Mono"/>
                <a:ea typeface="Roboto Mono"/>
              </a:endParaRPr>
            </a:p>
            <a:p>
              <a:pPr lvl="0"/>
              <a:endParaRPr lang="en-GB" sz="800" dirty="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lvl="0"/>
              <a:r>
                <a:rPr lang="en-GB" sz="8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# </a:t>
              </a:r>
              <a:r>
                <a:rPr lang="en-GB" sz="800" dirty="0">
                  <a:solidFill>
                    <a:schemeClr val="dk2"/>
                  </a:solidFill>
                  <a:latin typeface="Roboto Mono"/>
                  <a:ea typeface="Roboto Mono"/>
                  <a:hlinkClick r:id="rId6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understanding the attention mechanism in ai</a:t>
              </a:r>
              <a:endParaRPr lang="en-GB" sz="800" dirty="0">
                <a:solidFill>
                  <a:schemeClr val="dk2"/>
                </a:solidFill>
                <a:latin typeface="Roboto Mono"/>
                <a:ea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GB" sz="800" dirty="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8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# https://www.youtube.com/watch?v=7xtgnnlpymi&amp;t=999s</a:t>
              </a: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GB" sz="800" dirty="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8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# https://tiktokenizer.vercel.app</a:t>
              </a: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GB" sz="800" dirty="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8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# https://bbycroft.net/llm</a:t>
              </a: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800" dirty="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8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# https://arxiv.org/abs/1706.03762</a:t>
              </a:r>
              <a:endParaRPr sz="800" dirty="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</p:txBody>
        </p:sp>
        <p:sp>
          <p:nvSpPr>
            <p:cNvPr id="162" name="Google Shape;162;p24"/>
            <p:cNvSpPr txBox="1"/>
            <p:nvPr/>
          </p:nvSpPr>
          <p:spPr>
            <a:xfrm>
              <a:off x="2633225" y="407600"/>
              <a:ext cx="37266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2"/>
                </a:solidFill>
              </a:endParaRPr>
            </a:p>
          </p:txBody>
        </p:sp>
        <p:sp>
          <p:nvSpPr>
            <p:cNvPr id="163" name="Google Shape;163;p24"/>
            <p:cNvSpPr txBox="1"/>
            <p:nvPr/>
          </p:nvSpPr>
          <p:spPr>
            <a:xfrm>
              <a:off x="313775" y="4690625"/>
              <a:ext cx="8365500" cy="377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lvl="0" algn="r">
                <a:buClr>
                  <a:schemeClr val="dk1"/>
                </a:buClr>
                <a:buSzPts val="1100"/>
              </a:pPr>
              <a:r>
                <a:rPr lang="en-GB" sz="900" dirty="0">
                  <a:solidFill>
                    <a:schemeClr val="dk1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dean.lawrence@avanade.com</a:t>
              </a:r>
            </a:p>
            <a:p>
              <a:pPr lvl="0" algn="r">
                <a:buClr>
                  <a:schemeClr val="dk1"/>
                </a:buClr>
                <a:buSzPts val="1100"/>
              </a:pPr>
              <a:r>
                <a:rPr lang="en-GB" sz="900" dirty="0">
                  <a:solidFill>
                    <a:schemeClr val="dk1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github.com/deanl1982/llm101</a:t>
              </a:r>
            </a:p>
            <a:p>
              <a:pPr lvl="0" algn="ctr"/>
              <a:endParaRPr lang="en-GB" sz="900" dirty="0">
                <a:latin typeface="Roboto Mono"/>
                <a:ea typeface="Roboto Mono"/>
                <a:cs typeface="Roboto Mono"/>
                <a:sym typeface="Roboto Mono"/>
              </a:endParaRPr>
            </a:p>
          </p:txBody>
        </p:sp>
        <p:sp>
          <p:nvSpPr>
            <p:cNvPr id="164" name="Google Shape;164;p24"/>
            <p:cNvSpPr txBox="1"/>
            <p:nvPr/>
          </p:nvSpPr>
          <p:spPr>
            <a:xfrm>
              <a:off x="427025" y="2138650"/>
              <a:ext cx="8365500" cy="377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200" b="1" i="1">
                  <a:latin typeface="Roboto Mono"/>
                  <a:ea typeface="Roboto Mono"/>
                  <a:cs typeface="Roboto Mono"/>
                  <a:sym typeface="Roboto Mono"/>
                </a:rPr>
                <a:t>ai-101</a:t>
              </a:r>
              <a:endParaRPr sz="1200" b="1" i="1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9" name="Google Shape;169;p25"/>
          <p:cNvGrpSpPr/>
          <p:nvPr/>
        </p:nvGrpSpPr>
        <p:grpSpPr>
          <a:xfrm>
            <a:off x="313775" y="407600"/>
            <a:ext cx="8478750" cy="4660725"/>
            <a:chOff x="313775" y="407600"/>
            <a:chExt cx="8478750" cy="4660725"/>
          </a:xfrm>
        </p:grpSpPr>
        <p:sp>
          <p:nvSpPr>
            <p:cNvPr id="170" name="Google Shape;170;p25"/>
            <p:cNvSpPr txBox="1"/>
            <p:nvPr/>
          </p:nvSpPr>
          <p:spPr>
            <a:xfrm>
              <a:off x="389250" y="2600850"/>
              <a:ext cx="8365500" cy="2219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# questions &amp; answers…</a:t>
              </a:r>
              <a:endParaRPr sz="1100" dirty="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</p:txBody>
        </p:sp>
        <p:sp>
          <p:nvSpPr>
            <p:cNvPr id="171" name="Google Shape;171;p25"/>
            <p:cNvSpPr txBox="1"/>
            <p:nvPr/>
          </p:nvSpPr>
          <p:spPr>
            <a:xfrm>
              <a:off x="2633225" y="407600"/>
              <a:ext cx="37266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2"/>
                </a:solidFill>
              </a:endParaRPr>
            </a:p>
          </p:txBody>
        </p:sp>
        <p:sp>
          <p:nvSpPr>
            <p:cNvPr id="172" name="Google Shape;172;p25"/>
            <p:cNvSpPr txBox="1"/>
            <p:nvPr/>
          </p:nvSpPr>
          <p:spPr>
            <a:xfrm>
              <a:off x="313775" y="4690625"/>
              <a:ext cx="8365500" cy="377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lvl="0" algn="r">
                <a:buClr>
                  <a:schemeClr val="dk1"/>
                </a:buClr>
                <a:buSzPts val="1100"/>
              </a:pPr>
              <a:r>
                <a:rPr lang="en-GB" sz="900" dirty="0">
                  <a:solidFill>
                    <a:schemeClr val="dk1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dean.lawrence@avanade.com</a:t>
              </a:r>
            </a:p>
            <a:p>
              <a:pPr lvl="0" algn="r">
                <a:buClr>
                  <a:schemeClr val="dk1"/>
                </a:buClr>
                <a:buSzPts val="1100"/>
              </a:pPr>
              <a:r>
                <a:rPr lang="en-GB" sz="900" dirty="0">
                  <a:solidFill>
                    <a:schemeClr val="dk1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github.com/deanl1982/llm101</a:t>
              </a:r>
            </a:p>
            <a:p>
              <a:pPr lvl="0" algn="ctr"/>
              <a:endParaRPr lang="en-GB" sz="900" dirty="0">
                <a:latin typeface="Roboto Mono"/>
                <a:ea typeface="Roboto Mono"/>
                <a:cs typeface="Roboto Mono"/>
                <a:sym typeface="Roboto Mono"/>
              </a:endParaRPr>
            </a:p>
          </p:txBody>
        </p:sp>
        <p:sp>
          <p:nvSpPr>
            <p:cNvPr id="173" name="Google Shape;173;p25"/>
            <p:cNvSpPr txBox="1"/>
            <p:nvPr/>
          </p:nvSpPr>
          <p:spPr>
            <a:xfrm>
              <a:off x="427025" y="2138650"/>
              <a:ext cx="8365500" cy="377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200" b="1" i="1">
                  <a:latin typeface="Roboto Mono"/>
                  <a:ea typeface="Roboto Mono"/>
                  <a:cs typeface="Roboto Mono"/>
                  <a:sym typeface="Roboto Mono"/>
                </a:rPr>
                <a:t>ai-101</a:t>
              </a:r>
              <a:endParaRPr sz="1200" b="1" i="1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Metadata/LabelInfo.xml><?xml version="1.0" encoding="utf-8"?>
<clbl:labelList xmlns:clbl="http://schemas.microsoft.com/office/2020/mipLabelMetadata">
  <clbl:label id="{5fae8262-b78e-4366-8929-a5d6aac95320}" enabled="1" method="Standard" siteId="{cf36141c-ddd7-45a7-b073-111f66d0b30c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1147</Words>
  <Application>Microsoft Office PowerPoint</Application>
  <PresentationFormat>On-screen Show (16:9)</PresentationFormat>
  <Paragraphs>179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Roboto Mono</vt:lpstr>
      <vt:lpstr>Arial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Dean Lawrence</cp:lastModifiedBy>
  <cp:revision>6</cp:revision>
  <dcterms:modified xsi:type="dcterms:W3CDTF">2026-02-03T10:14:15Z</dcterms:modified>
</cp:coreProperties>
</file>