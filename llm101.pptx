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3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8be81d93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8be81d93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8be81d93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8be81d93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8be81d93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8be81d93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be81d93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8be81d937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8be81d937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8be81d937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8be81d93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8be81d93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be81d93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8be81d93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8be81d937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8be81d937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8be81d937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8be81d937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056415F-372A-6B79-0AA6-99FDE799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8be81d937_0_114:notes">
            <a:extLst>
              <a:ext uri="{FF2B5EF4-FFF2-40B4-BE49-F238E27FC236}">
                <a16:creationId xmlns:a16="http://schemas.microsoft.com/office/drawing/2014/main" id="{874F7C4C-6BB7-2485-1CBE-CA68C442C5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8be81d937_0_114:notes">
            <a:extLst>
              <a:ext uri="{FF2B5EF4-FFF2-40B4-BE49-F238E27FC236}">
                <a16:creationId xmlns:a16="http://schemas.microsoft.com/office/drawing/2014/main" id="{FC568A26-B945-B9F8-D4B0-B209BF0EE8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4843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8be81d93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8be81d937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8be81d93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8be81d93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8be81d93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8be81d937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how-modern-ai-models-learn-from-raw-text-helpful-dean-lawrence-rljge/?trackingId=qJJbRE%2FlRZ2lGE2WMzgQIA%3D%3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linkedin.com/pulse/understanding-attention-mechanism-ai-dean-lawrence-bjcpe/?trackingId=qJJbRE%2FlRZ2lGE2WMzgQIA%3D%3D" TargetMode="External"/><Relationship Id="rId5" Type="http://schemas.openxmlformats.org/officeDocument/2006/relationships/hyperlink" Target="https://www.linkedin.com/pulse/how-llms-decide-what-say-next-demystifying-top-k-top-p-dean-lawrence-ndrve/?trackingId=qJJbRE%2FlRZ2lGE2WMzgQIA%3D%3D" TargetMode="External"/><Relationship Id="rId4" Type="http://schemas.openxmlformats.org/officeDocument/2006/relationships/hyperlink" Target="https://www.linkedin.com/pulse/loss-isnt-failure-its-how-your-ai-learns-dean-lawrence-lhqle/?trackingId=qJJbRE%2FlRZ2lGE2WMzgQIA%3D%3D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9250" y="2600850"/>
            <a:ext cx="8365500" cy="22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# </a:t>
            </a:r>
            <a:r>
              <a:rPr lang="en-GB" sz="1100" dirty="0" err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tl;dr</a:t>
            </a: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the brief history of ai</a:t>
            </a: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 └── the significance of the transformer architecture</a:t>
            </a: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        └── how models are trained</a:t>
            </a: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633225" y="407600"/>
            <a:ext cx="372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  <a:endParaRPr sz="7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github.com/deanl1982/llm101</a:t>
            </a:r>
            <a:endParaRPr sz="7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27025" y="2138650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1">
                <a:latin typeface="Roboto Mono"/>
                <a:ea typeface="Roboto Mono"/>
                <a:cs typeface="Roboto Mono"/>
                <a:sym typeface="Roboto Mono"/>
              </a:rPr>
              <a:t>ai-101</a:t>
            </a:r>
            <a:endParaRPr sz="1200" b="1" i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89250" y="85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v0.4</a:t>
            </a:r>
            <a:endParaRPr sz="9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389250" y="2600850"/>
            <a:ext cx="8365500" cy="22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# [cheat-code] everything that follows is not text memorisation, </a:t>
            </a:r>
            <a:r>
              <a:rPr lang="en-GB" sz="110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it's pattern recognition!</a:t>
            </a:r>
            <a:endParaRPr sz="1100" b="1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633225" y="407600"/>
            <a:ext cx="372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</a:p>
          <a:p>
            <a:pPr lvl="0" algn="r"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github.com/deanl1982/llm101</a:t>
            </a:r>
          </a:p>
          <a:p>
            <a:pPr lvl="0" algn="ctr"/>
            <a:endParaRPr lang="en-GB" sz="8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27025" y="2138650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1">
                <a:latin typeface="Roboto Mono"/>
                <a:ea typeface="Roboto Mono"/>
                <a:cs typeface="Roboto Mono"/>
                <a:sym typeface="Roboto Mono"/>
              </a:rPr>
              <a:t>ai-101</a:t>
            </a:r>
            <a:endParaRPr sz="1200" b="1" i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4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64" name="Google Shape;64;p14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the brief history of ai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artificial intelligence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└── machine learning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└── deep learning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└── neural networks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├── recurrent neural networks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└── </a:t>
              </a:r>
              <a:r>
                <a:rPr lang="en-GB" sz="1100" b="1" dirty="0">
                  <a:solidFill>
                    <a:srgbClr val="FF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transformers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└── foundation models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     ├── large language models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     ├── vision models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     ├── speech models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     └── multimodal models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            └── agentic ai</a:t>
              </a:r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8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7"/>
          <p:cNvGrpSpPr/>
          <p:nvPr/>
        </p:nvGrpSpPr>
        <p:grpSpPr>
          <a:xfrm>
            <a:off x="313775" y="407600"/>
            <a:ext cx="8579307" cy="4660725"/>
            <a:chOff x="313775" y="407600"/>
            <a:chExt cx="8579307" cy="4660725"/>
          </a:xfrm>
        </p:grpSpPr>
        <p:sp>
          <p:nvSpPr>
            <p:cNvPr id="92" name="Google Shape;92;p17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the significance of the transformer architecture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 err="1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google's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2017 deep learning breakthrough that enabled modern ai was the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transformer architecture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└── old models read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sequentially [word by word]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meaning they were slow and forgot context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└── transformers use "attention" to look at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all words simultaneously</a:t>
              </a:r>
              <a:endParaRPr sz="110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└── parallel processing unlocked scale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└── could finally train on massive datasets [the entire internet]  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└── every modern LLM uses this architecture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3" name="Google Shape;93;p17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8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5" name="Google Shape;95;p17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" name="Google Shape;92;p17">
              <a:extLst>
                <a:ext uri="{FF2B5EF4-FFF2-40B4-BE49-F238E27FC236}">
                  <a16:creationId xmlns:a16="http://schemas.microsoft.com/office/drawing/2014/main" id="{FFE71EAE-912C-3ACC-329D-7D7AFCF3AB03}"/>
                </a:ext>
              </a:extLst>
            </p:cNvPr>
            <p:cNvSpPr txBox="1"/>
            <p:nvPr/>
          </p:nvSpPr>
          <p:spPr>
            <a:xfrm>
              <a:off x="527582" y="408051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 i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“context turns data into knowledge”</a:t>
              </a:r>
              <a:endParaRPr b="1" i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6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81" name="Google Shape;81;p16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tokenization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splits text into smaller pieces ["Hello world!" → "Hello" " world" "!"]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└──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embedding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converts each token into a list of numbers that capture its meaning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└── neural networks process tokens through thousands of layers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└── each layer adjusts billions of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weights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as it learns new patterns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└── weights are the "knobs" that predict the next token correctly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└── scale up and repeat this process across trillions of words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2" name="Google Shape;82;p16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3" name="Google Shape;83;p16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8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7575" y="407599"/>
            <a:ext cx="4066624" cy="22874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4836300" y="2603550"/>
            <a:ext cx="3956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i="1"/>
              <a:t>Source: https://www.scalablepath.com/machine-learning/chatgpt-architecture-explained</a:t>
            </a:r>
            <a:endParaRPr sz="6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101" name="Google Shape;101;p18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## [user-prompt] complete this sentence, the cat sat on the…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2" name="Google Shape;102;p18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3" name="Google Shape;103;p18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8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4" name="Google Shape;104;p18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9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110" name="Google Shape;110;p19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## tokenization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"the cat sat on the mat"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↓ 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token text: ["the", " cat", " sat", " on", " the", " mat"]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↓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token id: [1820, 8415, 7731, 389, 279, 5634]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1" name="Google Shape;111;p19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2" name="Google Shape;112;p19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8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3" name="Google Shape;113;p19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125" y="327826"/>
            <a:ext cx="3877402" cy="235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4915075" y="2683050"/>
            <a:ext cx="387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 dirty="0"/>
              <a:t>https://tiktokenizer.vercel.app</a:t>
            </a:r>
            <a:endParaRPr sz="9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0"/>
          <p:cNvGrpSpPr/>
          <p:nvPr/>
        </p:nvGrpSpPr>
        <p:grpSpPr>
          <a:xfrm>
            <a:off x="362925" y="407600"/>
            <a:ext cx="8429600" cy="4602150"/>
            <a:chOff x="362925" y="407600"/>
            <a:chExt cx="8429600" cy="4602150"/>
          </a:xfrm>
        </p:grpSpPr>
        <p:sp>
          <p:nvSpPr>
            <p:cNvPr id="121" name="Google Shape;121;p20"/>
            <p:cNvSpPr/>
            <p:nvPr/>
          </p:nvSpPr>
          <p:spPr>
            <a:xfrm>
              <a:off x="362925" y="3810650"/>
              <a:ext cx="1696200" cy="1199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" name="Google Shape;122;p20"/>
            <p:cNvGrpSpPr/>
            <p:nvPr/>
          </p:nvGrpSpPr>
          <p:grpSpPr>
            <a:xfrm>
              <a:off x="389250" y="407600"/>
              <a:ext cx="8403275" cy="4412350"/>
              <a:chOff x="389250" y="407600"/>
              <a:chExt cx="8403275" cy="4412350"/>
            </a:xfrm>
          </p:grpSpPr>
          <p:sp>
            <p:nvSpPr>
              <p:cNvPr id="123" name="Google Shape;123;p20"/>
              <p:cNvSpPr txBox="1"/>
              <p:nvPr/>
            </p:nvSpPr>
            <p:spPr>
              <a:xfrm>
                <a:off x="389250" y="2600850"/>
                <a:ext cx="8365500" cy="22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# how models are trained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## embedding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before being processed by the transformer, all tokens are assigned an initial randomised </a:t>
                </a:r>
                <a:r>
                  <a:rPr lang="en-GB" sz="1100" u="sng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weight</a:t>
                </a: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token		weight₁	weight₂	weight₃	weight₄ 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"the"		0.847	-0.312	1.456	-0.723 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"cat"		0.823 	0.591	-1.023	0.445 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"sat"		-0.567	1.234	0.892	-0.156 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"on"		0.723	-0.891	0.334	1.567 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"the"		1.445	0.223	-0.778	0.901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24" name="Google Shape;124;p20"/>
              <p:cNvSpPr txBox="1"/>
              <p:nvPr/>
            </p:nvSpPr>
            <p:spPr>
              <a:xfrm>
                <a:off x="2633225" y="407600"/>
                <a:ext cx="3726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2"/>
                  </a:solidFill>
                </a:endParaRPr>
              </a:p>
            </p:txBody>
          </p:sp>
          <p:sp>
            <p:nvSpPr>
              <p:cNvPr id="126" name="Google Shape;126;p20"/>
              <p:cNvSpPr txBox="1"/>
              <p:nvPr/>
            </p:nvSpPr>
            <p:spPr>
              <a:xfrm>
                <a:off x="427025" y="2138650"/>
                <a:ext cx="8365500" cy="37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 i="1">
                    <a:latin typeface="Roboto Mono"/>
                    <a:ea typeface="Roboto Mono"/>
                    <a:cs typeface="Roboto Mono"/>
                    <a:sym typeface="Roboto Mono"/>
                  </a:rPr>
                  <a:t>ai-101</a:t>
                </a:r>
                <a:endParaRPr sz="1200" b="1" i="1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sp>
        <p:nvSpPr>
          <p:cNvPr id="2" name="Google Shape;103;p18">
            <a:extLst>
              <a:ext uri="{FF2B5EF4-FFF2-40B4-BE49-F238E27FC236}">
                <a16:creationId xmlns:a16="http://schemas.microsoft.com/office/drawing/2014/main" id="{9EECC1A8-6DE1-9802-E001-29FDAF24DB2A}"/>
              </a:ext>
            </a:extLst>
          </p:cNvPr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</a:p>
          <a:p>
            <a:pPr lvl="0" algn="r"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github.com/deanl1982/llm101</a:t>
            </a:r>
          </a:p>
          <a:p>
            <a:pPr lvl="0" algn="ctr"/>
            <a:endParaRPr lang="en-GB" sz="8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1"/>
          <p:cNvGrpSpPr/>
          <p:nvPr/>
        </p:nvGrpSpPr>
        <p:grpSpPr>
          <a:xfrm>
            <a:off x="313775" y="407600"/>
            <a:ext cx="8478750" cy="4697050"/>
            <a:chOff x="313775" y="407600"/>
            <a:chExt cx="8478750" cy="4697050"/>
          </a:xfrm>
        </p:grpSpPr>
        <p:sp>
          <p:nvSpPr>
            <p:cNvPr id="132" name="Google Shape;132;p21"/>
            <p:cNvSpPr txBox="1"/>
            <p:nvPr/>
          </p:nvSpPr>
          <p:spPr>
            <a:xfrm>
              <a:off x="389250" y="2600850"/>
              <a:ext cx="8365500" cy="25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## training data is then fed into the transformer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“the cat sat on the mat"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"the dog sat on the couch"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"the bird sat on the branch"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"my cat loves sitting on warm surfaces"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"cats often sit on mats, rugs, and furniture"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"the kitten sat on the cushion"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"animals sit on comfortable places"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"she placed the mat down and the cat sat on it"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3" name="Google Shape;133;p21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9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22"/>
          <p:cNvGrpSpPr/>
          <p:nvPr/>
        </p:nvGrpSpPr>
        <p:grpSpPr>
          <a:xfrm>
            <a:off x="389250" y="407600"/>
            <a:ext cx="8403275" cy="4703650"/>
            <a:chOff x="389250" y="407600"/>
            <a:chExt cx="8403275" cy="4703650"/>
          </a:xfrm>
        </p:grpSpPr>
        <p:sp>
          <p:nvSpPr>
            <p:cNvPr id="141" name="Google Shape;141;p22"/>
            <p:cNvSpPr txBox="1"/>
            <p:nvPr/>
          </p:nvSpPr>
          <p:spPr>
            <a:xfrm>
              <a:off x="389250" y="2600850"/>
              <a:ext cx="8290025" cy="251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recognising language, layer by layer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/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1 — tokens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breaks the sentence into pieces &gt; "the", "cat", "sat", "on", "the", "mat". just raw fragments, no meaning yet.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10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2 — word relationships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which words relate to which? it spots that "cat" connects to "sat" (the cat is doing the sitting). still no understanding — just patterns of association.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3 — context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what role does each word play? it recognises "cat" is the subject, "mat" is the location. it notices this follows patterns it's seen millions of times before.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4 — meaning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"what word likely comes next?“ based on all those patterns, it can now predict: if the sentence continued, words like "and purred" or "then jumped" would fit. words like "elephant" or "quantum" would not.</a:t>
              </a:r>
            </a:p>
          </p:txBody>
        </p:sp>
        <p:sp>
          <p:nvSpPr>
            <p:cNvPr id="142" name="Google Shape;142;p22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44" name="Google Shape;144;p22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 dirty="0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9920" y="132692"/>
            <a:ext cx="4594193" cy="279338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4723175" y="2670642"/>
            <a:ext cx="3956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i="1" dirty="0"/>
              <a:t>Source: https://www.scalablepath.com/machine-learning/chatgpt-architecture-explained</a:t>
            </a:r>
            <a:endParaRPr sz="600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8AE7526-BD05-574A-F3EA-08169592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22">
            <a:extLst>
              <a:ext uri="{FF2B5EF4-FFF2-40B4-BE49-F238E27FC236}">
                <a16:creationId xmlns:a16="http://schemas.microsoft.com/office/drawing/2014/main" id="{565FC2EE-A047-9A00-C352-B3A7521CCD0D}"/>
              </a:ext>
            </a:extLst>
          </p:cNvPr>
          <p:cNvGrpSpPr/>
          <p:nvPr/>
        </p:nvGrpSpPr>
        <p:grpSpPr>
          <a:xfrm>
            <a:off x="313775" y="407600"/>
            <a:ext cx="8478750" cy="4703650"/>
            <a:chOff x="313775" y="407600"/>
            <a:chExt cx="8478750" cy="4703650"/>
          </a:xfrm>
        </p:grpSpPr>
        <p:sp>
          <p:nvSpPr>
            <p:cNvPr id="141" name="Google Shape;141;p22">
              <a:extLst>
                <a:ext uri="{FF2B5EF4-FFF2-40B4-BE49-F238E27FC236}">
                  <a16:creationId xmlns:a16="http://schemas.microsoft.com/office/drawing/2014/main" id="{C226A4FB-9F3D-DBE0-7B76-DDDDD067A9E6}"/>
                </a:ext>
              </a:extLst>
            </p:cNvPr>
            <p:cNvSpPr txBox="1"/>
            <p:nvPr/>
          </p:nvSpPr>
          <p:spPr>
            <a:xfrm>
              <a:off x="389250" y="2600850"/>
              <a:ext cx="8365500" cy="251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## training run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weights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change as token make their way through the transformer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layers</a:t>
              </a:r>
              <a:endParaRPr sz="110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and new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patterns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in the data are found,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semantically similar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words are clustered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closer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together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"cat" → [</a:t>
              </a:r>
              <a:r>
                <a:rPr lang="en-GB" sz="1100" b="1" dirty="0">
                  <a:solidFill>
                    <a:srgbClr val="FF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0.823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&gt; 0.654 &gt; -0.234 &gt; 0.445 &gt; </a:t>
              </a:r>
              <a:r>
                <a:rPr lang="en-GB" sz="1100" b="1" dirty="0">
                  <a:solidFill>
                    <a:srgbClr val="00B05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0.912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]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"mat" → [</a:t>
              </a:r>
              <a:r>
                <a:rPr lang="en-GB" sz="1100" b="1" dirty="0">
                  <a:solidFill>
                    <a:srgbClr val="FF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1.798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&gt; 1.642 &gt; 1.210  &gt; 0.938 &gt; </a:t>
              </a:r>
              <a:r>
                <a:rPr lang="en-GB" sz="1100" b="1" dirty="0">
                  <a:solidFill>
                    <a:srgbClr val="00B05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0.895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] ← closer to "cat"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2" name="Google Shape;142;p22">
              <a:extLst>
                <a:ext uri="{FF2B5EF4-FFF2-40B4-BE49-F238E27FC236}">
                  <a16:creationId xmlns:a16="http://schemas.microsoft.com/office/drawing/2014/main" id="{88A2E4CB-4346-8158-8FCB-784C34958AD9}"/>
                </a:ext>
              </a:extLst>
            </p:cNvPr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43" name="Google Shape;143;p22">
              <a:extLst>
                <a:ext uri="{FF2B5EF4-FFF2-40B4-BE49-F238E27FC236}">
                  <a16:creationId xmlns:a16="http://schemas.microsoft.com/office/drawing/2014/main" id="{BE937FD5-685B-2AF9-E30A-2F560475EB88}"/>
                </a:ext>
              </a:extLst>
            </p:cNvPr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9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4" name="Google Shape;144;p22">
              <a:extLst>
                <a:ext uri="{FF2B5EF4-FFF2-40B4-BE49-F238E27FC236}">
                  <a16:creationId xmlns:a16="http://schemas.microsoft.com/office/drawing/2014/main" id="{EA97C492-3232-31D0-F955-FDCA2340C2B4}"/>
                </a:ext>
              </a:extLst>
            </p:cNvPr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442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152" name="Google Shape;152;p23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## </a:t>
              </a:r>
              <a:r>
                <a:rPr lang="en-GB" sz="1100" dirty="0">
                  <a:solidFill>
                    <a:srgbClr val="FF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semantic similarity</a:t>
              </a:r>
              <a:endParaRPr sz="1100" dirty="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before training: 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"cat"                  "mat" 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🐱 ←───── 0.975 ─────→ 🧘 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after training: 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"cat"        "mat"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🐱←─ 0.017 ─→🧘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3" name="Google Shape;153;p23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54" name="Google Shape;154;p23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9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5" name="Google Shape;155;p23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4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161" name="Google Shape;161;p24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sources &amp; useful links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/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</a:t>
              </a: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how modern ai models learn: from raw text to helpful assistants</a:t>
              </a:r>
              <a:endParaRPr lang="en-GB" sz="800" dirty="0">
                <a:solidFill>
                  <a:schemeClr val="dk2"/>
                </a:solidFill>
                <a:latin typeface="Roboto Mono"/>
                <a:ea typeface="Roboto Mono"/>
              </a:endParaRPr>
            </a:p>
            <a:p>
              <a:pPr lvl="0"/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/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</a:t>
              </a: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loss isn’t failure: it’s how your ai learns</a:t>
              </a:r>
              <a:endParaRPr lang="en-GB" sz="800" dirty="0">
                <a:solidFill>
                  <a:schemeClr val="dk2"/>
                </a:solidFill>
                <a:latin typeface="Roboto Mono"/>
                <a:ea typeface="Roboto Mono"/>
              </a:endParaRPr>
            </a:p>
            <a:p>
              <a:pPr lvl="0"/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/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</a:t>
              </a: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how </a:t>
              </a:r>
              <a:r>
                <a:rPr lang="en-GB" sz="800" dirty="0" err="1">
                  <a:solidFill>
                    <a:schemeClr val="dk2"/>
                  </a:solidFill>
                  <a:latin typeface="Roboto Mono"/>
                  <a:ea typeface="Roboto Mono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llms</a:t>
              </a: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decide what to say next: demystifying top-k, top-p, and temperature</a:t>
              </a:r>
              <a:endParaRPr lang="en-GB" sz="800" dirty="0">
                <a:solidFill>
                  <a:schemeClr val="dk2"/>
                </a:solidFill>
                <a:latin typeface="Roboto Mono"/>
                <a:ea typeface="Roboto Mono"/>
              </a:endParaRPr>
            </a:p>
            <a:p>
              <a:pPr lvl="0"/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/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</a:t>
              </a: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understanding the attention mechanism in ai</a:t>
              </a:r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https://www.youtube.com/watch?v=7xtgnnlpymi&amp;t=999s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https://tiktokenizer.vercel.app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https://bbycroft.net/llm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https://arxiv.org/abs/1706.03762</a:t>
              </a:r>
              <a:endParaRPr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62" name="Google Shape;162;p24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63" name="Google Shape;163;p24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9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64" name="Google Shape;164;p24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5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170" name="Google Shape;170;p25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questions &amp; answers…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71" name="Google Shape;171;p25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72" name="Google Shape;172;p25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9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73" name="Google Shape;173;p25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1150</Words>
  <Application>Microsoft Office PowerPoint</Application>
  <PresentationFormat>On-screen Show (16:9)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Roboto Mono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Dean Lawrence</cp:lastModifiedBy>
  <cp:revision>11</cp:revision>
  <dcterms:modified xsi:type="dcterms:W3CDTF">2026-02-03T10:31:59Z</dcterms:modified>
</cp:coreProperties>
</file>