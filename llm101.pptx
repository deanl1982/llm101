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5143500" cx="9144000"/>
  <p:notesSz cx="6858000" cy="9144000"/>
  <p:embeddedFontLst>
    <p:embeddedFont>
      <p:font typeface="Roboto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Mono-bold.fntdata"/><Relationship Id="rId11" Type="http://schemas.openxmlformats.org/officeDocument/2006/relationships/slide" Target="slides/slide6.xml"/><Relationship Id="rId22" Type="http://schemas.openxmlformats.org/officeDocument/2006/relationships/font" Target="fonts/RobotoMono-boldItalic.fntdata"/><Relationship Id="rId10" Type="http://schemas.openxmlformats.org/officeDocument/2006/relationships/slide" Target="slides/slide5.xml"/><Relationship Id="rId21" Type="http://schemas.openxmlformats.org/officeDocument/2006/relationships/font" Target="fonts/RobotoMono-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RobotoMono-regular.fntdata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8be81d93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8be81d93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b8be81d937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b8be81d937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b8be81d937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b8be81d937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8be81d937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b8be81d937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b8be81d937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b8be81d937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b8be81d937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b8be81d937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b8be81d937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b8be81d937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b8be81d937_0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b8be81d937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b8be81d937_0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b8be81d937_0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b8be81d937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b8be81d937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b8be81d937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b8be81d937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b8be81d93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b8be81d93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389250" y="2600850"/>
            <a:ext cx="8365500" cy="22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tl;dr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the history of ai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 └── the significance of the transformer architecture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       └── how models are trained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2633225" y="407600"/>
            <a:ext cx="3726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13775" y="4690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dean.lawrence@avanade.com</a:t>
            </a:r>
            <a:endParaRPr i="1"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github.com/deanl1982/llm101</a:t>
            </a:r>
            <a:endParaRPr i="1"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90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427025" y="2138650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1200">
                <a:latin typeface="Roboto Mono"/>
                <a:ea typeface="Roboto Mono"/>
                <a:cs typeface="Roboto Mono"/>
                <a:sym typeface="Roboto Mono"/>
              </a:rPr>
              <a:t>ai-101</a:t>
            </a:r>
            <a:endParaRPr b="1" i="1" sz="12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/>
        </p:nvSpPr>
        <p:spPr>
          <a:xfrm>
            <a:off x="389250" y="2600850"/>
            <a:ext cx="8365500" cy="22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 the history of ai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artificial intelligence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 └── machine learning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       └── deep learning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  ├── recurrent neural networks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             └── foundational models  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                   ├── large language models 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                   ├── vision models  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                   ├── speech models  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                   ├── multimodal models  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                   └── agentic ai [built on top]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63" name="Google Shape;63;p14"/>
          <p:cNvSpPr txBox="1"/>
          <p:nvPr/>
        </p:nvSpPr>
        <p:spPr>
          <a:xfrm>
            <a:off x="2633225" y="407600"/>
            <a:ext cx="3726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313775" y="4690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dean.lawrence@avanade.com</a:t>
            </a:r>
            <a:endParaRPr i="1"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github.com/deanl1982/llm101</a:t>
            </a:r>
            <a:endParaRPr i="1" sz="90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427025" y="2138650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1200">
                <a:latin typeface="Roboto Mono"/>
                <a:ea typeface="Roboto Mono"/>
                <a:cs typeface="Roboto Mono"/>
                <a:sym typeface="Roboto Mono"/>
              </a:rPr>
              <a:t>ai-101</a:t>
            </a:r>
            <a:endParaRPr b="1" i="1" sz="12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/>
        </p:nvSpPr>
        <p:spPr>
          <a:xfrm>
            <a:off x="389250" y="2600850"/>
            <a:ext cx="8365500" cy="22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 the significance of the transformer architecture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google's 2017 breakthrough that enabled modern ai was the transformer architecture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 └── old models read sequentially [word by word] meaning they were slow and forgot context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       └── Transformers use "attention"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             └── look at all words simultaneously and learn which ones relate to each other  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                   └── parallel processing unlocked scale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                         └── could finally train on massive datasets [the entire internet]  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                               └── every modern LLM uses this architecture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2633225" y="407600"/>
            <a:ext cx="3726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313775" y="4690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dean.lawrence@avanade.com</a:t>
            </a:r>
            <a:endParaRPr i="1"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github.com/deanl1982/llm101</a:t>
            </a:r>
            <a:endParaRPr i="1" sz="90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427025" y="2138650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1200">
                <a:latin typeface="Roboto Mono"/>
                <a:ea typeface="Roboto Mono"/>
                <a:cs typeface="Roboto Mono"/>
                <a:sym typeface="Roboto Mono"/>
              </a:rPr>
              <a:t>ai-101</a:t>
            </a:r>
            <a:endParaRPr b="1" i="1" sz="12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 txBox="1"/>
          <p:nvPr/>
        </p:nvSpPr>
        <p:spPr>
          <a:xfrm>
            <a:off x="389250" y="2600850"/>
            <a:ext cx="8365500" cy="22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 </a:t>
            </a: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how models are trained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t</a:t>
            </a: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okenization splits text into smaller pieces ["Hello world!" → "Hello" " world" "!"]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 └── e</a:t>
            </a: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mbedding converts each token into a list of numbers that capture its meaning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       └── w</a:t>
            </a: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eights are the "knobs" which learn patterns to predict the next token correctly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             └── s</a:t>
            </a: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cale up and repeat this process across trillions of words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79" name="Google Shape;79;p16"/>
          <p:cNvSpPr txBox="1"/>
          <p:nvPr/>
        </p:nvSpPr>
        <p:spPr>
          <a:xfrm>
            <a:off x="2633225" y="407600"/>
            <a:ext cx="3726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0" name="Google Shape;80;p16"/>
          <p:cNvSpPr txBox="1"/>
          <p:nvPr/>
        </p:nvSpPr>
        <p:spPr>
          <a:xfrm>
            <a:off x="313775" y="4690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dean.lawrence@avanade.com</a:t>
            </a:r>
            <a:endParaRPr i="1"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github.com/deanl1982/llm101</a:t>
            </a:r>
            <a:endParaRPr i="1" sz="90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81" name="Google Shape;81;p16"/>
          <p:cNvSpPr txBox="1"/>
          <p:nvPr/>
        </p:nvSpPr>
        <p:spPr>
          <a:xfrm>
            <a:off x="427025" y="2138650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1200">
                <a:latin typeface="Roboto Mono"/>
                <a:ea typeface="Roboto Mono"/>
                <a:cs typeface="Roboto Mono"/>
                <a:sym typeface="Roboto Mono"/>
              </a:rPr>
              <a:t>ai-101</a:t>
            </a:r>
            <a:endParaRPr b="1" i="1" sz="12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/>
          <p:nvPr/>
        </p:nvSpPr>
        <p:spPr>
          <a:xfrm>
            <a:off x="389250" y="2600850"/>
            <a:ext cx="8365500" cy="22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 how models are trained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## [cheat-code] remember: what follows is not text</a:t>
            </a: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memorisation, it's pattern recognition!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87" name="Google Shape;87;p17"/>
          <p:cNvSpPr txBox="1"/>
          <p:nvPr/>
        </p:nvSpPr>
        <p:spPr>
          <a:xfrm>
            <a:off x="2633225" y="407600"/>
            <a:ext cx="3726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8" name="Google Shape;88;p17"/>
          <p:cNvSpPr txBox="1"/>
          <p:nvPr/>
        </p:nvSpPr>
        <p:spPr>
          <a:xfrm>
            <a:off x="313775" y="4690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dean.lawrence@avanade.com</a:t>
            </a:r>
            <a:endParaRPr i="1"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github.com/deanl1982/llm101</a:t>
            </a:r>
            <a:endParaRPr i="1" sz="90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89" name="Google Shape;89;p17"/>
          <p:cNvSpPr txBox="1"/>
          <p:nvPr/>
        </p:nvSpPr>
        <p:spPr>
          <a:xfrm>
            <a:off x="427025" y="2138650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1200">
                <a:latin typeface="Roboto Mono"/>
                <a:ea typeface="Roboto Mono"/>
                <a:cs typeface="Roboto Mono"/>
                <a:sym typeface="Roboto Mono"/>
              </a:rPr>
              <a:t>ai-101</a:t>
            </a:r>
            <a:endParaRPr b="1" i="1" sz="12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/>
        </p:nvSpPr>
        <p:spPr>
          <a:xfrm>
            <a:off x="389250" y="2600850"/>
            <a:ext cx="8365500" cy="22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 how models are trained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## [user-prompt] complete this sentence, the cat sat on the…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95" name="Google Shape;95;p18"/>
          <p:cNvSpPr txBox="1"/>
          <p:nvPr/>
        </p:nvSpPr>
        <p:spPr>
          <a:xfrm>
            <a:off x="2633225" y="407600"/>
            <a:ext cx="3726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96" name="Google Shape;96;p18"/>
          <p:cNvSpPr txBox="1"/>
          <p:nvPr/>
        </p:nvSpPr>
        <p:spPr>
          <a:xfrm>
            <a:off x="313775" y="4690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dean.lawrence@avanade.com</a:t>
            </a:r>
            <a:endParaRPr i="1"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github.com/deanl1982/llm101</a:t>
            </a:r>
            <a:endParaRPr i="1" sz="90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97" name="Google Shape;97;p18"/>
          <p:cNvSpPr txBox="1"/>
          <p:nvPr/>
        </p:nvSpPr>
        <p:spPr>
          <a:xfrm>
            <a:off x="427025" y="2138650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1200">
                <a:latin typeface="Roboto Mono"/>
                <a:ea typeface="Roboto Mono"/>
                <a:cs typeface="Roboto Mono"/>
                <a:sym typeface="Roboto Mono"/>
              </a:rPr>
              <a:t>ai-101</a:t>
            </a:r>
            <a:endParaRPr b="1" i="1" sz="12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/>
          <p:nvPr/>
        </p:nvSpPr>
        <p:spPr>
          <a:xfrm>
            <a:off x="389250" y="2600850"/>
            <a:ext cx="8365500" cy="250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 how models are trained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## t</a:t>
            </a: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raining examples, trillions of them: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"the cat is a domestic animal"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"cats are mammals that..."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"my cat loves to hunt mice"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"the dog and cat played together"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"animals like cats and dogs need food"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"the veterinarian examined the cat"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"feline animals include cats, lions, and tigers"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"the cat meowed loudly"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03" name="Google Shape;103;p19"/>
          <p:cNvSpPr txBox="1"/>
          <p:nvPr/>
        </p:nvSpPr>
        <p:spPr>
          <a:xfrm>
            <a:off x="2633225" y="407600"/>
            <a:ext cx="3726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04" name="Google Shape;104;p19"/>
          <p:cNvSpPr txBox="1"/>
          <p:nvPr/>
        </p:nvSpPr>
        <p:spPr>
          <a:xfrm>
            <a:off x="313775" y="4690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dean.lawrence@avanade.com</a:t>
            </a:r>
            <a:endParaRPr i="1"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github.com/deanl1982/llm101</a:t>
            </a:r>
            <a:endParaRPr i="1" sz="90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05" name="Google Shape;105;p19"/>
          <p:cNvSpPr txBox="1"/>
          <p:nvPr/>
        </p:nvSpPr>
        <p:spPr>
          <a:xfrm>
            <a:off x="427025" y="2138650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1200">
                <a:latin typeface="Roboto Mono"/>
                <a:ea typeface="Roboto Mono"/>
                <a:cs typeface="Roboto Mono"/>
                <a:sym typeface="Roboto Mono"/>
              </a:rPr>
              <a:t>ai-101</a:t>
            </a:r>
            <a:endParaRPr b="1" i="1" sz="12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/>
        </p:nvSpPr>
        <p:spPr>
          <a:xfrm>
            <a:off x="389250" y="2600850"/>
            <a:ext cx="8365500" cy="22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 how models are trained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## tokenization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"the cat sat on the mat"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   ↓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["the", " cat", " sat", " on", " the", " mat"]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11" name="Google Shape;111;p20"/>
          <p:cNvSpPr txBox="1"/>
          <p:nvPr/>
        </p:nvSpPr>
        <p:spPr>
          <a:xfrm>
            <a:off x="2633225" y="407600"/>
            <a:ext cx="3726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12" name="Google Shape;112;p20"/>
          <p:cNvSpPr txBox="1"/>
          <p:nvPr/>
        </p:nvSpPr>
        <p:spPr>
          <a:xfrm>
            <a:off x="313775" y="4690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dean.lawrence@avanade.com</a:t>
            </a:r>
            <a:endParaRPr i="1"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github.com/deanl1982/llm101</a:t>
            </a:r>
            <a:endParaRPr i="1" sz="90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13" name="Google Shape;113;p20"/>
          <p:cNvSpPr txBox="1"/>
          <p:nvPr/>
        </p:nvSpPr>
        <p:spPr>
          <a:xfrm>
            <a:off x="427025" y="2138650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1200">
                <a:latin typeface="Roboto Mono"/>
                <a:ea typeface="Roboto Mono"/>
                <a:cs typeface="Roboto Mono"/>
                <a:sym typeface="Roboto Mono"/>
              </a:rPr>
              <a:t>ai-101</a:t>
            </a:r>
            <a:endParaRPr b="1" i="1" sz="12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1"/>
          <p:cNvSpPr txBox="1"/>
          <p:nvPr/>
        </p:nvSpPr>
        <p:spPr>
          <a:xfrm>
            <a:off x="389250" y="2600850"/>
            <a:ext cx="8365500" cy="22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 how models are trained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## embedding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input tokens with random initial weights: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token		weight₁	weight₂	weight₃	weight₄ 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"the"		0.847		-0.312	1.456		-0.723 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"cat"		2.134		0.591		-1.023	0.445 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"sat"		-0.567	1.234		0.892		-0.156 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"on"		0.723		-0.891	0.334		1.567 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"the"		1.445		0.223		-0.778	0.901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19" name="Google Shape;119;p21"/>
          <p:cNvSpPr txBox="1"/>
          <p:nvPr/>
        </p:nvSpPr>
        <p:spPr>
          <a:xfrm>
            <a:off x="2633225" y="407600"/>
            <a:ext cx="3726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0" name="Google Shape;120;p21"/>
          <p:cNvSpPr txBox="1"/>
          <p:nvPr/>
        </p:nvSpPr>
        <p:spPr>
          <a:xfrm>
            <a:off x="313775" y="4690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dean.lawrence@avanade.com</a:t>
            </a:r>
            <a:endParaRPr i="1"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github.com/deanl1982/llm101</a:t>
            </a:r>
            <a:endParaRPr i="1" sz="90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21" name="Google Shape;121;p21"/>
          <p:cNvSpPr txBox="1"/>
          <p:nvPr/>
        </p:nvSpPr>
        <p:spPr>
          <a:xfrm>
            <a:off x="427025" y="2138650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1200">
                <a:latin typeface="Roboto Mono"/>
                <a:ea typeface="Roboto Mono"/>
                <a:cs typeface="Roboto Mono"/>
                <a:sym typeface="Roboto Mono"/>
              </a:rPr>
              <a:t>ai-101</a:t>
            </a:r>
            <a:endParaRPr b="1" i="1" sz="12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/>
        </p:nvSpPr>
        <p:spPr>
          <a:xfrm>
            <a:off x="389250" y="2600850"/>
            <a:ext cx="8365500" cy="25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 how models are trained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## embedding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Initial random embedding for "cat":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[0.234, -0.891, 1.456, -0.334, 0.778, ...]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After training on trillions of examples: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"cat" → [0.823, 0.654, -0.234, 0.445, 0.912, ...]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"dog" → [0.801, 0.631, -0.198, 0.423, 0.889, ...]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"animal" → [0.756, 0.612, -0.223, 0.434, 0.867, ...]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"mat" → [-0.234, 0.123, 0.889, -0.567, 0.234, ...]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"shed" → [0.345, -0.456, 0.678, 0.234, -0.123, ...]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27" name="Google Shape;127;p22"/>
          <p:cNvSpPr txBox="1"/>
          <p:nvPr/>
        </p:nvSpPr>
        <p:spPr>
          <a:xfrm>
            <a:off x="2633225" y="407600"/>
            <a:ext cx="3726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8" name="Google Shape;128;p22"/>
          <p:cNvSpPr txBox="1"/>
          <p:nvPr/>
        </p:nvSpPr>
        <p:spPr>
          <a:xfrm>
            <a:off x="313775" y="4690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dean.lawrence@avanade.com</a:t>
            </a:r>
            <a:endParaRPr i="1"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github.com/deanl1982/llm101</a:t>
            </a:r>
            <a:endParaRPr i="1" sz="90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29" name="Google Shape;129;p22"/>
          <p:cNvSpPr txBox="1"/>
          <p:nvPr/>
        </p:nvSpPr>
        <p:spPr>
          <a:xfrm>
            <a:off x="427025" y="2138650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1200">
                <a:latin typeface="Roboto Mono"/>
                <a:ea typeface="Roboto Mono"/>
                <a:cs typeface="Roboto Mono"/>
                <a:sym typeface="Roboto Mono"/>
              </a:rPr>
              <a:t>ai-101</a:t>
            </a:r>
            <a:endParaRPr b="1" i="1" sz="12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3"/>
          <p:cNvSpPr txBox="1"/>
          <p:nvPr/>
        </p:nvSpPr>
        <p:spPr>
          <a:xfrm>
            <a:off x="389250" y="2600850"/>
            <a:ext cx="8365500" cy="22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 how models are trained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## embedding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b</a:t>
            </a: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efore training</a:t>
            </a: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: 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"cat"                         "mat" 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🐱 ←</a:t>
            </a: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─────</a:t>
            </a: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2.89 ─────→ 🧘 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after training: 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"cat"           "mat"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🐱←</a:t>
            </a: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─ </a:t>
            </a: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0.24 ─→🧘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35" name="Google Shape;135;p23"/>
          <p:cNvSpPr txBox="1"/>
          <p:nvPr/>
        </p:nvSpPr>
        <p:spPr>
          <a:xfrm>
            <a:off x="2633225" y="407600"/>
            <a:ext cx="3726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36" name="Google Shape;136;p23"/>
          <p:cNvSpPr txBox="1"/>
          <p:nvPr/>
        </p:nvSpPr>
        <p:spPr>
          <a:xfrm>
            <a:off x="313775" y="4690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dean.lawrence@avanade.com</a:t>
            </a:r>
            <a:endParaRPr i="1"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github.com/deanl1982/llm101</a:t>
            </a:r>
            <a:endParaRPr i="1" sz="90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37" name="Google Shape;137;p23"/>
          <p:cNvSpPr txBox="1"/>
          <p:nvPr/>
        </p:nvSpPr>
        <p:spPr>
          <a:xfrm>
            <a:off x="427025" y="2138650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1200">
                <a:latin typeface="Roboto Mono"/>
                <a:ea typeface="Roboto Mono"/>
                <a:cs typeface="Roboto Mono"/>
                <a:sym typeface="Roboto Mono"/>
              </a:rPr>
              <a:t>ai-101</a:t>
            </a:r>
            <a:endParaRPr b="1" i="1" sz="12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/>
        </p:nvSpPr>
        <p:spPr>
          <a:xfrm>
            <a:off x="389250" y="2600850"/>
            <a:ext cx="8365500" cy="22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 demo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43" name="Google Shape;143;p24"/>
          <p:cNvSpPr txBox="1"/>
          <p:nvPr/>
        </p:nvSpPr>
        <p:spPr>
          <a:xfrm>
            <a:off x="2633225" y="407600"/>
            <a:ext cx="3726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44" name="Google Shape;144;p24"/>
          <p:cNvSpPr txBox="1"/>
          <p:nvPr/>
        </p:nvSpPr>
        <p:spPr>
          <a:xfrm>
            <a:off x="313775" y="4690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dean.lawrence@avanade.com</a:t>
            </a:r>
            <a:endParaRPr i="1"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github.com/deanl1982/llm101</a:t>
            </a:r>
            <a:endParaRPr i="1" sz="90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427025" y="2138650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1200">
                <a:latin typeface="Roboto Mono"/>
                <a:ea typeface="Roboto Mono"/>
                <a:cs typeface="Roboto Mono"/>
                <a:sym typeface="Roboto Mono"/>
              </a:rPr>
              <a:t>ai-101</a:t>
            </a:r>
            <a:endParaRPr b="1" i="1" sz="12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5"/>
          <p:cNvSpPr txBox="1"/>
          <p:nvPr/>
        </p:nvSpPr>
        <p:spPr>
          <a:xfrm>
            <a:off x="389250" y="2600850"/>
            <a:ext cx="8365500" cy="22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 sources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 d</a:t>
            </a: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eep dive into llms like chatgpt [andrej karpathy]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## https://www.youtube.com/watch?v=7xTGNNLPyMI&amp;t=999s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 https://tiktokenizer.vercel.app/?model=cl100k_base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 https://bbycroft.net/llm</a:t>
            </a:r>
            <a:endParaRPr sz="11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51" name="Google Shape;151;p25"/>
          <p:cNvSpPr txBox="1"/>
          <p:nvPr/>
        </p:nvSpPr>
        <p:spPr>
          <a:xfrm>
            <a:off x="2633225" y="407600"/>
            <a:ext cx="3726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52" name="Google Shape;152;p25"/>
          <p:cNvSpPr txBox="1"/>
          <p:nvPr/>
        </p:nvSpPr>
        <p:spPr>
          <a:xfrm>
            <a:off x="313775" y="4690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dean.lawrence@avanade.com</a:t>
            </a:r>
            <a:endParaRPr i="1"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github.com/deanl1982/llm101</a:t>
            </a:r>
            <a:endParaRPr i="1" sz="90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53" name="Google Shape;153;p25"/>
          <p:cNvSpPr txBox="1"/>
          <p:nvPr/>
        </p:nvSpPr>
        <p:spPr>
          <a:xfrm>
            <a:off x="427025" y="2138650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1200">
                <a:latin typeface="Roboto Mono"/>
                <a:ea typeface="Roboto Mono"/>
                <a:cs typeface="Roboto Mono"/>
                <a:sym typeface="Roboto Mono"/>
              </a:rPr>
              <a:t>ai-101</a:t>
            </a:r>
            <a:endParaRPr b="1" i="1" sz="120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